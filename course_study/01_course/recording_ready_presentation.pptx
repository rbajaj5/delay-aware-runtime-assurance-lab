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3324bdbfc6452d" /><Relationship Type="http://schemas.openxmlformats.org/officeDocument/2006/relationships/extended-properties" Target="/docProps/app.xml" Id="R71f7162858424304" /><Relationship Type="http://schemas.openxmlformats.org/officeDocument/2006/relationships/officeDocument" Target="/ppt/presentation.xml" Id="R825cd49daf7c455f" /></Relationships>
</file>

<file path=ppt/presentation.xml><?xml version="1.0" encoding="utf-8"?>
<p:presentation xmlns:p="http://schemas.openxmlformats.org/presentationml/2006/main">
  <p:sldMasterIdLst>
    <p:sldMasterId xmlns:r="http://schemas.openxmlformats.org/officeDocument/2006/relationships" id="2147483648" r:id="R222b8f9270394fd5"/>
  </p:sldMasterIdLst>
  <p:notesMasterIdLst>
    <p:notesMasterId xmlns:r="http://schemas.openxmlformats.org/officeDocument/2006/relationships" r:id="R077bb0b3de0f4ebc"/>
  </p:notesMasterIdLst>
  <p:sldIdLst>
    <p:sldId xmlns:r="http://schemas.openxmlformats.org/officeDocument/2006/relationships" id="256" r:id="R10c25259c62045f8"/>
    <p:sldId xmlns:r="http://schemas.openxmlformats.org/officeDocument/2006/relationships" id="257" r:id="R041bf7aee7234c85"/>
    <p:sldId xmlns:r="http://schemas.openxmlformats.org/officeDocument/2006/relationships" id="258" r:id="Rcf69c19ed60b42ac"/>
    <p:sldId xmlns:r="http://schemas.openxmlformats.org/officeDocument/2006/relationships" id="259" r:id="Rdc07bf4fb34b4ab5"/>
    <p:sldId xmlns:r="http://schemas.openxmlformats.org/officeDocument/2006/relationships" id="260" r:id="Rf3020ebb4642472f"/>
    <p:sldId xmlns:r="http://schemas.openxmlformats.org/officeDocument/2006/relationships" id="261" r:id="R06addce7df274be0"/>
    <p:sldId xmlns:r="http://schemas.openxmlformats.org/officeDocument/2006/relationships" id="262" r:id="Rdedb57cbbd044d00"/>
    <p:sldId xmlns:r="http://schemas.openxmlformats.org/officeDocument/2006/relationships" id="263" r:id="R90cd7275a4a947ef"/>
    <p:sldId xmlns:r="http://schemas.openxmlformats.org/officeDocument/2006/relationships" id="264" r:id="R970ec86a61e040f0"/>
    <p:sldId xmlns:r="http://schemas.openxmlformats.org/officeDocument/2006/relationships" id="265" r:id="Rd3c4a256744a4041"/>
    <p:sldId xmlns:r="http://schemas.openxmlformats.org/officeDocument/2006/relationships" id="266" r:id="R837431bcc9b94232"/>
    <p:sldId xmlns:r="http://schemas.openxmlformats.org/officeDocument/2006/relationships" id="267" r:id="R585beaffe33549b0"/>
    <p:sldId xmlns:r="http://schemas.openxmlformats.org/officeDocument/2006/relationships" id="268" r:id="R7ccd781deba94c50"/>
    <p:sldId xmlns:r="http://schemas.openxmlformats.org/officeDocument/2006/relationships" id="269" r:id="R89a54d503e9d4796"/>
    <p:sldId xmlns:r="http://schemas.openxmlformats.org/officeDocument/2006/relationships" id="270" r:id="Re8e12816b67b46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98cd61f089343ac" /><Relationship Type="http://schemas.openxmlformats.org/officeDocument/2006/relationships/slideMaster" Target="/ppt/slideMasters/slideMaster1.xml" Id="R222b8f9270394fd5" /><Relationship Type="http://schemas.openxmlformats.org/officeDocument/2006/relationships/notesMaster" Target="/ppt/notesMasters/notesMaster1.xml" Id="R077bb0b3de0f4ebc" /><Relationship Type="http://schemas.openxmlformats.org/officeDocument/2006/relationships/presProps" Target="/ppt/presProps.xml" Id="R21cd281f12454af6" /><Relationship Type="http://schemas.openxmlformats.org/officeDocument/2006/relationships/viewProps" Target="/ppt/viewProps.xml" Id="R238b6800189a4c66" /><Relationship Type="http://schemas.openxmlformats.org/officeDocument/2006/relationships/tableStyles" Target="/ppt/tableStyles.xml" Id="R4736ebc56f5e47d1" /><Relationship Type="http://schemas.openxmlformats.org/officeDocument/2006/relationships/slide" Target="/ppt/slides/slide1.xml" Id="R10c25259c62045f8" /><Relationship Type="http://schemas.openxmlformats.org/officeDocument/2006/relationships/slide" Target="/ppt/slides/slide2.xml" Id="R041bf7aee7234c85" /><Relationship Type="http://schemas.openxmlformats.org/officeDocument/2006/relationships/slide" Target="/ppt/slides/slide3.xml" Id="Rcf69c19ed60b42ac" /><Relationship Type="http://schemas.openxmlformats.org/officeDocument/2006/relationships/slide" Target="/ppt/slides/slide4.xml" Id="Rdc07bf4fb34b4ab5" /><Relationship Type="http://schemas.openxmlformats.org/officeDocument/2006/relationships/slide" Target="/ppt/slides/slide5.xml" Id="Rf3020ebb4642472f" /><Relationship Type="http://schemas.openxmlformats.org/officeDocument/2006/relationships/slide" Target="/ppt/slides/slide6.xml" Id="R06addce7df274be0" /><Relationship Type="http://schemas.openxmlformats.org/officeDocument/2006/relationships/slide" Target="/ppt/slides/slide7.xml" Id="Rdedb57cbbd044d00" /><Relationship Type="http://schemas.openxmlformats.org/officeDocument/2006/relationships/slide" Target="/ppt/slides/slide8.xml" Id="R90cd7275a4a947ef" /><Relationship Type="http://schemas.openxmlformats.org/officeDocument/2006/relationships/slide" Target="/ppt/slides/slide9.xml" Id="R970ec86a61e040f0" /><Relationship Type="http://schemas.openxmlformats.org/officeDocument/2006/relationships/slide" Target="/ppt/slides/slide10.xml" Id="Rd3c4a256744a4041" /><Relationship Type="http://schemas.openxmlformats.org/officeDocument/2006/relationships/slide" Target="/ppt/slides/slide11.xml" Id="R837431bcc9b94232" /><Relationship Type="http://schemas.openxmlformats.org/officeDocument/2006/relationships/slide" Target="/ppt/slides/slide12.xml" Id="R585beaffe33549b0" /><Relationship Type="http://schemas.openxmlformats.org/officeDocument/2006/relationships/slide" Target="/ppt/slides/slide13.xml" Id="R7ccd781deba94c50" /><Relationship Type="http://schemas.openxmlformats.org/officeDocument/2006/relationships/slide" Target="/ppt/slides/slide14.xml" Id="R89a54d503e9d4796" /><Relationship Type="http://schemas.openxmlformats.org/officeDocument/2006/relationships/slide" Target="/ppt/slides/slide15.xml" Id="Re8e12816b67b46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5bac1038e341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d3ee3560794475" /><Relationship Type="http://schemas.openxmlformats.org/officeDocument/2006/relationships/notesMaster" Target="/ppt/notesMasters/notesMaster1.xml" Id="Re7fa401a3d884e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053db0b84844e2" /><Relationship Type="http://schemas.openxmlformats.org/officeDocument/2006/relationships/notesMaster" Target="/ppt/notesMasters/notesMaster1.xml" Id="R083b34ecc21b49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d1f759e9db4e20" /><Relationship Type="http://schemas.openxmlformats.org/officeDocument/2006/relationships/notesMaster" Target="/ppt/notesMasters/notesMaster1.xml" Id="Rd45f976556404a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4a537b5424d6c" /><Relationship Type="http://schemas.openxmlformats.org/officeDocument/2006/relationships/notesMaster" Target="/ppt/notesMasters/notesMaster1.xml" Id="Ref6895de322248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2c3b3416714980" /><Relationship Type="http://schemas.openxmlformats.org/officeDocument/2006/relationships/notesMaster" Target="/ppt/notesMasters/notesMaster1.xml" Id="R7fc965975cfc41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3659b19cec44b9" /><Relationship Type="http://schemas.openxmlformats.org/officeDocument/2006/relationships/notesMaster" Target="/ppt/notesMasters/notesMaster1.xml" Id="Rdb4aaaa6df6d47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53d2dba85a470f" /><Relationship Type="http://schemas.openxmlformats.org/officeDocument/2006/relationships/notesMaster" Target="/ppt/notesMasters/notesMaster1.xml" Id="R37a12a65f98548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ceaf80da03492c" /><Relationship Type="http://schemas.openxmlformats.org/officeDocument/2006/relationships/notesMaster" Target="/ppt/notesMasters/notesMaster1.xml" Id="R1f7b6ade192f4b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4e25e653a04f32" /><Relationship Type="http://schemas.openxmlformats.org/officeDocument/2006/relationships/notesMaster" Target="/ppt/notesMasters/notesMaster1.xml" Id="R2c0619ee95ae43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7608de92a24d9b" /><Relationship Type="http://schemas.openxmlformats.org/officeDocument/2006/relationships/notesMaster" Target="/ppt/notesMasters/notesMaster1.xml" Id="Rcef6b60b0f9744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02c125f90544a4" /><Relationship Type="http://schemas.openxmlformats.org/officeDocument/2006/relationships/notesMaster" Target="/ppt/notesMasters/notesMaster1.xml" Id="R7827aa56f05744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21687b726c485d" /><Relationship Type="http://schemas.openxmlformats.org/officeDocument/2006/relationships/notesMaster" Target="/ppt/notesMasters/notesMaster1.xml" Id="R8e03f21a872442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8773a785d043d0" /><Relationship Type="http://schemas.openxmlformats.org/officeDocument/2006/relationships/notesMaster" Target="/ppt/notesMasters/notesMaster1.xml" Id="Re15f07eb5948432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36386467f64ccf" /><Relationship Type="http://schemas.openxmlformats.org/officeDocument/2006/relationships/notesMaster" Target="/ppt/notesMasters/notesMaster1.xml" Id="R382697bd98344a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dd96c3da11467b" /><Relationship Type="http://schemas.openxmlformats.org/officeDocument/2006/relationships/notesMaster" Target="/ppt/notesMasters/notesMaster1.xml" Id="Rbd7711537e4648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talk asks whether more prediction depth makes a runtime safety monitor safer. In this two-dimensional quadrotor harness, a queue-aware monitor made the drone less safe. We reproduced that failure, mapped every integer horizon from three through ten, and tested the obvious repairs. Registered, pilot, and exploratory labels stay separate, and every number maps to a hash-manifested artifact." [About 25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learned PPO controller sends commands into a delayed FIFO queue. Arm B is the unmonitored policy. D and E use the same trigger, eight-candidate library, and score; D evaluates the observed state, while E first rolls the pending queue. AP uses the same library but selects projection-style. The key parameter is N: both E's trigger and scorer use that prediction horizon." [About 38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"Under uniform actuation delay, the queue-aware E-N3 monitor exits bounds 159 times in a thousand, while the delay-blind monitor and the bare policy record zero. A fresh range reproduces the queue-aware tail at 175 in a thousand. The orange trace shows the mechanism: pitch stays pinned while forward velocity compounds. Severity looks deceptively smaller only because failed episodes end early, so occurrence remains the primary endpoint." [About 42 seconds.] Q&amp;A: The first 159-in-1000 observation was unexpected; the fresh reproduction and the HZ1 and HA1 tests were frozen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159 failures are not 159 distinct mechanisms. Hashing terminal state and the complete applied-action sequence collapses them into six exact trajectory families, all exiting between steps 77 and 82. Three families contain almost ninety percent of the tail. That proves the failure is systematic, but it also means the mechanistic sample is six families, not 159 episodes." [About 32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fault study contains five profile families across seven tested conditions: nominal, two isolated dips, two burst losses, gradual decay, and persistent loss. Under the canonical pipeline, gradual loss makes both monitors worse than the bare policy, while persistent loss makes both better. Under corrected conversion, gradual B, D, and E become zero, zero, and 96 failures. The rates and the D-versus-E ordering are pipeline-dependent, so no monitor dominates across fault timing and conversion semantics." [About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first repair added a velocity-gated penalty. It removed the frozen endpoint tail, 150 in a thousand to zero, but the full-state audit found risk migrating to the masked reverse-velocity channel: crossings rose from 387 to 503. In a longer replay, one rescued family exits at step 155. This is an endpoint mitigation, not a safety repair."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static poster is assembled from retained logged states. The outer panels use the same seed and delay schedule. E-N3 on the left locks onto gentle_down and exits at step 79; E-N4 on the right keeps changing winners and survives through step 99. The middle panel is a different exploratory seed for the decoupled deep scorer, which also locks and exits. The registered outer-panel contrast is 175 failures in a thousand versus zero." [About 38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natural response is to keep increasing the horizon. The complete measured spectrum rejects that rule. Registered N equals three has 175 failures in a thousand; N equals four has zero. Exploratory N equals five also has zero, then failures return: 454, 479, 821, and 981 per thousand at N equals six through nine. The N equals ten pilot fails on all 200 seeds. Every point is measured and no line is interpolated. N equals four is a local repair in this harness, not a universally safe horizon." [About 48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"Why does one extra step work? Trigger frequency barely changes, and the old bad ranking still appears in 49 of 63 paired payloads. What changes is persistence: gentle_down wins less often, winner churn rises about fourfold, and the long fixation run disappears. Rescoring the 175 fatal onset states shows N equals four still chooses gentle_down on most of them; surviving paths simply avoid reaching those states. Across the dense extension, saturation rises from 50.6 percent at N equals five to 98.7 percent at N equals nine, while gentle_down share rises from 4 to 75 percent." [About 52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unifying defect is saturation. A scorer state is saturated when every one of the eight candidates predicts a violation, so selection reduces to the least predicted violation. In the shallow regime this forms a boundary shell and occasionally produces the six fatal families. At deep horizons the region expands across the envelope and fixation becomes global. The schematic is conceptual; the measured fractions are below it. All 98 fatal states where N equals four still selects gentle_down satisfy the same zero-support condition." [About 42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"Because trigger and scorer originally share N, we separated them in a two-by-two experiment after bit-identical regression gates. Keeping the shallow trigger but using the deep scorer fails on 199 of 200 schedules. Deep trigger with shallow scorer fails on 113 of 200. Either channel can therefore break the closed loop, and the deep-scorer cell shares about three quarters of its failure mass with the coupled deep collapse. Intervention rate is endogenous: poor selections move the vehicle toward the boundary and make the unchanged trigger fire more often." [About 46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"Two registered endpoint repairs remain. E-N4 records zero failures in a thousand and passes the reverse-channel audit: among matched survivors, crossings fall from 352 to 22, and the gradual guardrail stays at zero. AP also records zero failures, but 20 of its 100 gradual episodes cross the reverse-velocity bound and 57.6 percent of its interventions use fallback. E-N4 is therefore the primary registered repair; AP remains useful but endpoint- and horizon-qualified." [About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exact-signature census strengthens the attribution. The decoupled deep-scorer cell and the coupled deep collapse share eight trajectory signatures covering roughly 74 percent of the failure mass on both sides. The saturated-trigger cell shares one signature with the shallow failures, and it is the largest shallow family. E-N7 shares none under this strict hash, which is reported as a census fact rather than evidence of a different mechanism." [About 36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audit changed the interpretation four times. It found AP's undocumented fallback before confirmation. It separated two thrust-conversion pipelines that changed both rates and the D-versus-E ordering. Seed-echo gates caught a silent remap and made recurrence structurally impossible. Finally, the pre-pilot freeze placed the non-monotonic horizon result inside interpretations written before the data existed. These checks were not ceremonial; each prevented an overclaim." [About 38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"Three conclusions. First, this finite heuristic monitor contains a saturation region whose size changes with the shared horizon. Second, E-N4 and projection-style selection avoid that region, but neither repairs the scorer itself. Third, monitor sophistication is not safety by itself. This is an implementation-specific counterexample, not a general limitation of delay-aware assurance. The next tests are formal filtering, additional checkpoints, randomized initial states, and plant mismatch." [About 34 seconds.]</a:t>
            </a:r>
          </a:p>
          <a:p xmlns:a="http://schemas.openxmlformats.org/drawingml/2006/main">
            <a:r>
              <a:t/>
            </a:r>
          </a:p>
          <a:p xmlns:a="http://schemas.openxmlformats.org/drawingml/2006/main">
            <a:r>
              <a:t>Q&amp;A PREP:</a:t>
            </a:r>
          </a:p>
          <a:p xmlns:a="http://schemas.openxmlformats.org/drawingml/2006/main">
            <a:r>
              <a:t>1. Scope: one PPO checkpoint, one 2D plant, and fixed initialization.</a:t>
            </a:r>
          </a:p>
          <a:p xmlns:a="http://schemas.openxmlformats.org/drawingml/2006/main">
            <a:r>
              <a:t>2. E-N4 full-state audit: reverse-bound crossings fell from 352 to 22; gradual guardrail crossings remained 0 to 0.</a:t>
            </a:r>
          </a:p>
          <a:p xmlns:a="http://schemas.openxmlformats.org/drawingml/2006/main">
            <a:r>
              <a:t>3. AP qualification: 20/100 gradual episodes crossed vx &lt; -1 and fallback handled 57.6% of interventions.</a:t>
            </a:r>
          </a:p>
          <a:p xmlns:a="http://schemas.openxmlformats.org/drawingml/2006/main">
            <a:r>
              <a:t>4. The saturation schematic is conceptual; the adjacent fractions are measured.</a:t>
            </a:r>
          </a:p>
          <a:p xmlns:a="http://schemas.openxmlformats.org/drawingml/2006/main">
            <a:r>
              <a:t>5. Family counts use terminal state plus action sequence with 12-decimal rounding.</a:t>
            </a:r>
          </a:p>
          <a:p xmlns:a="http://schemas.openxmlformats.org/drawingml/2006/main">
            <a:r>
              <a:t>6. N=5 through N=9 are exploratory 1000-seed cells; they are descriptive, not new registered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ba3d27b93c41c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66c545763c4550" /><Relationship Type="http://schemas.openxmlformats.org/officeDocument/2006/relationships/slideLayout" Target="/ppt/slideLayouts/slideLayout1.xml" Id="R99eb47d6f750480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eb47d6f750480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41d7496ff64ef0" /><Relationship Type="http://schemas.openxmlformats.org/officeDocument/2006/relationships/notesSlide" Target="/ppt/notesSlides/notesSlide1.xml" Id="Rc2c7b7c058174c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6d1eed96fd4f61" /><Relationship Type="http://schemas.openxmlformats.org/officeDocument/2006/relationships/notesSlide" Target="/ppt/notesSlides/notesSlide2.xml" Id="R9e0c96bc00e34d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282ed1c1514d38" /><Relationship Type="http://schemas.openxmlformats.org/officeDocument/2006/relationships/image" Target="/ppt/media/image.png" Id="Rf3e6e23a72bf4d6a" /><Relationship Type="http://schemas.openxmlformats.org/officeDocument/2006/relationships/notesSlide" Target="/ppt/notesSlides/notesSlide3.xml" Id="Rf44514cbe9c34d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f1032acf3a49f5" /><Relationship Type="http://schemas.openxmlformats.org/officeDocument/2006/relationships/image" Target="/ppt/media/image2.png" Id="Rb13ae1982b9a4deb" /><Relationship Type="http://schemas.openxmlformats.org/officeDocument/2006/relationships/notesSlide" Target="/ppt/notesSlides/notesSlide4.xml" Id="Raee03402fb3047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0043e2b1a04b45" /><Relationship Type="http://schemas.openxmlformats.org/officeDocument/2006/relationships/image" Target="/ppt/media/image3.png" Id="Rce0dc37b818c405e" /><Relationship Type="http://schemas.openxmlformats.org/officeDocument/2006/relationships/chart" Target="/ppt/slides/charts/chart1.xml" Id="R8f08677d1bfa491d" /><Relationship Type="http://schemas.openxmlformats.org/officeDocument/2006/relationships/notesSlide" Target="/ppt/notesSlides/notesSlide5.xml" Id="R106b12e722de4c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95a7622b844fd3" /><Relationship Type="http://schemas.openxmlformats.org/officeDocument/2006/relationships/notesSlide" Target="/ppt/notesSlides/notesSlide6.xml" Id="R75746074049e4a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6b4b2e58584579" /><Relationship Type="http://schemas.openxmlformats.org/officeDocument/2006/relationships/image" Target="/ppt/media/image4.png" Id="Ra7b8b2859d2c40ce" /><Relationship Type="http://schemas.openxmlformats.org/officeDocument/2006/relationships/notesSlide" Target="/ppt/notesSlides/notesSlide7.xml" Id="R5e93ccce95934f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7d3af60a144471" /><Relationship Type="http://schemas.openxmlformats.org/officeDocument/2006/relationships/chart" Target="/ppt/slides/charts/chart2.xml" Id="R11f16fee1b41412f" /><Relationship Type="http://schemas.openxmlformats.org/officeDocument/2006/relationships/notesSlide" Target="/ppt/notesSlides/notesSlide8.xml" Id="Rc4c835d7eefc44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90af1890da448f" /><Relationship Type="http://schemas.openxmlformats.org/officeDocument/2006/relationships/image" Target="/ppt/media/image5.png" Id="R55defa675c3543f0" /><Relationship Type="http://schemas.openxmlformats.org/officeDocument/2006/relationships/notesSlide" Target="/ppt/notesSlides/notesSlide9.xml" Id="R6fa0effb622246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a57c44b97841ef" /><Relationship Type="http://schemas.openxmlformats.org/officeDocument/2006/relationships/image" Target="/ppt/media/image6.png" Id="R8481ee4e2bc94bbd" /><Relationship Type="http://schemas.openxmlformats.org/officeDocument/2006/relationships/image" Target="/ppt/media/image7.png" Id="R6352fedf226f4e6c" /><Relationship Type="http://schemas.openxmlformats.org/officeDocument/2006/relationships/notesSlide" Target="/ppt/notesSlides/notesSlide10.xml" Id="R25ec0a151cad4a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a88625d3f940f2" /><Relationship Type="http://schemas.openxmlformats.org/officeDocument/2006/relationships/image" Target="/ppt/media/image8.png" Id="R971248a699284411" /><Relationship Type="http://schemas.openxmlformats.org/officeDocument/2006/relationships/notesSlide" Target="/ppt/notesSlides/notesSlide11.xml" Id="R6887764a4a9b4b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3deeed840d453d" /><Relationship Type="http://schemas.openxmlformats.org/officeDocument/2006/relationships/image" Target="/ppt/media/image9.png" Id="Raf6b84fb86a64bff" /><Relationship Type="http://schemas.openxmlformats.org/officeDocument/2006/relationships/notesSlide" Target="/ppt/notesSlides/notesSlide12.xml" Id="R6419d643510c43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06740fa5084f7b" /><Relationship Type="http://schemas.openxmlformats.org/officeDocument/2006/relationships/image" Target="/ppt/media/image10.png" Id="Raddd7bc4cfb740c9" /><Relationship Type="http://schemas.openxmlformats.org/officeDocument/2006/relationships/notesSlide" Target="/ppt/notesSlides/notesSlide13.xml" Id="R54f1c76bf63a40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f7520e159c14009" /><Relationship Type="http://schemas.openxmlformats.org/officeDocument/2006/relationships/notesSlide" Target="/ppt/notesSlides/notesSlide14.xml" Id="Ra1bf68b93ff944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650781d5fb4727" /><Relationship Type="http://schemas.openxmlformats.org/officeDocument/2006/relationships/notesSlide" Target="/ppt/notesSlides/notesSlide15.xml" Id="R8fa3aba5521b4e1b" /></Relationships>
</file>

<file path=ppt/slides/charts/chart1.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B (no monitor)</c:v>
                </c:pt>
              </c:strCache>
            </c:strRef>
          </c:tx>
          <c:spPr>
            <a:solidFill xmlns:a="http://schemas.openxmlformats.org/drawingml/2006/main">
              <a:srgbClr val="6B7280"/>
            </a:solidFill>
          </c:spPr>
          <c:dLbls>
            <c:numFmt formatCode="#,##0" sourceLinked="0"/>
            <c:txPr>
              <a:bodyPr xmlns:a="http://schemas.openxmlformats.org/drawingml/2006/main" anchorCtr="1"/>
              <a:lstStyle xmlns:a="http://schemas.openxmlformats.org/drawingml/2006/main"/>
              <a:p xmlns:a="http://schemas.openxmlformats.org/drawingml/2006/main">
                <a:pPr>
                  <a:defRPr sz="900" b="0" i="0" u="none">
                    <a:solidFill>
                      <a:srgbClr val="1C283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nominal</c:v>
                </c:pt>
                <c:pt idx="1">
                  <c:v>isolated</c:v>
                </c:pt>
                <c:pt idx="2">
                  <c:v>burst</c:v>
                </c:pt>
                <c:pt idx="3">
                  <c:v>gradual</c:v>
                </c:pt>
                <c:pt idx="4">
                  <c:v>persistent</c:v>
                </c:pt>
              </c:strCache>
            </c:strRef>
          </c:cat>
          <c:val>
            <c:numRef>
              <c:f>Sheet1!$B$2:$B$6</c:f>
              <c:numCache>
                <c:formatCode>General</c:formatCode>
                <c:ptCount val="5"/>
                <c:pt idx="0">
                  <c:v>0</c:v>
                </c:pt>
                <c:pt idx="1">
                  <c:v>0</c:v>
                </c:pt>
                <c:pt idx="2">
                  <c:v>0</c:v>
                </c:pt>
                <c:pt idx="3">
                  <c:v>103</c:v>
                </c:pt>
                <c:pt idx="4">
                  <c:v>348</c:v>
                </c:pt>
              </c:numCache>
            </c:numRef>
          </c:val>
        </c:ser>
        <c:ser>
          <c:idx val="1"/>
          <c:order val="1"/>
          <c:tx>
            <c:strRef>
              <c:f>Sheet1!$C$1</c:f>
              <c:strCache>
                <c:ptCount val="1"/>
                <c:pt idx="0">
                  <c:v>D (delay-blind)</c:v>
                </c:pt>
              </c:strCache>
            </c:strRef>
          </c:tx>
          <c:spPr>
            <a:solidFill xmlns:a="http://schemas.openxmlformats.org/drawingml/2006/main">
              <a:srgbClr val="2C6E91"/>
            </a:solidFill>
          </c:spPr>
          <c:dLbls>
            <c:numFmt formatCode="#,##0" sourceLinked="0"/>
            <c:txPr>
              <a:bodyPr xmlns:a="http://schemas.openxmlformats.org/drawingml/2006/main" anchorCtr="1"/>
              <a:lstStyle xmlns:a="http://schemas.openxmlformats.org/drawingml/2006/main"/>
              <a:p xmlns:a="http://schemas.openxmlformats.org/drawingml/2006/main">
                <a:pPr>
                  <a:defRPr sz="900" b="0" i="0" u="none">
                    <a:solidFill>
                      <a:srgbClr val="1C283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nominal</c:v>
                </c:pt>
                <c:pt idx="1">
                  <c:v>isolated</c:v>
                </c:pt>
                <c:pt idx="2">
                  <c:v>burst</c:v>
                </c:pt>
                <c:pt idx="3">
                  <c:v>gradual</c:v>
                </c:pt>
                <c:pt idx="4">
                  <c:v>persistent</c:v>
                </c:pt>
              </c:strCache>
            </c:strRef>
          </c:cat>
          <c:val>
            <c:numRef>
              <c:f>Sheet1!$C$2:$C$6</c:f>
              <c:numCache>
                <c:formatCode>General</c:formatCode>
                <c:ptCount val="5"/>
                <c:pt idx="0">
                  <c:v>0</c:v>
                </c:pt>
                <c:pt idx="1">
                  <c:v>0</c:v>
                </c:pt>
                <c:pt idx="2">
                  <c:v>0</c:v>
                </c:pt>
                <c:pt idx="3">
                  <c:v>1000</c:v>
                </c:pt>
                <c:pt idx="4">
                  <c:v>56</c:v>
                </c:pt>
              </c:numCache>
            </c:numRef>
          </c:val>
        </c:ser>
        <c:ser>
          <c:idx val="2"/>
          <c:order val="2"/>
          <c:tx>
            <c:strRef>
              <c:f>Sheet1!$D$1</c:f>
              <c:strCache>
                <c:ptCount val="1"/>
                <c:pt idx="0">
                  <c:v>E (delay-aware)</c:v>
                </c:pt>
              </c:strCache>
            </c:strRef>
          </c:tx>
          <c:spPr>
            <a:solidFill xmlns:a="http://schemas.openxmlformats.org/drawingml/2006/main">
              <a:srgbClr val="D97706"/>
            </a:solidFill>
          </c:spPr>
          <c:dLbls>
            <c:numFmt formatCode="#,##0" sourceLinked="0"/>
            <c:txPr>
              <a:bodyPr xmlns:a="http://schemas.openxmlformats.org/drawingml/2006/main" anchorCtr="1"/>
              <a:lstStyle xmlns:a="http://schemas.openxmlformats.org/drawingml/2006/main"/>
              <a:p xmlns:a="http://schemas.openxmlformats.org/drawingml/2006/main">
                <a:pPr>
                  <a:defRPr sz="900" b="0" i="0" u="none">
                    <a:solidFill>
                      <a:srgbClr val="1C283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nominal</c:v>
                </c:pt>
                <c:pt idx="1">
                  <c:v>isolated</c:v>
                </c:pt>
                <c:pt idx="2">
                  <c:v>burst</c:v>
                </c:pt>
                <c:pt idx="3">
                  <c:v>gradual</c:v>
                </c:pt>
                <c:pt idx="4">
                  <c:v>persistent</c:v>
                </c:pt>
              </c:strCache>
            </c:strRef>
          </c:cat>
          <c:val>
            <c:numRef>
              <c:f>Sheet1!$D$2:$D$6</c:f>
              <c:numCache>
                <c:formatCode>General</c:formatCode>
                <c:ptCount val="5"/>
                <c:pt idx="0">
                  <c:v>168</c:v>
                </c:pt>
                <c:pt idx="1">
                  <c:v>168</c:v>
                </c:pt>
                <c:pt idx="2">
                  <c:v>170</c:v>
                </c:pt>
                <c:pt idx="3">
                  <c:v>302</c:v>
                </c:pt>
                <c:pt idx="4">
                  <c:v>170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00" b="0" i="0" u="none">
                  <a:solidFill>
                    <a:srgbClr val="1C2833"/>
                  </a:solidFill>
                  <a:latin typeface="Arial"/>
                  <a:ea typeface="Arial"/>
                  <a:cs typeface="Arial"/>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100" b="0" i="0" u="none">
                <a:solidFill>
                  <a:srgbClr val="1C2833"/>
                </a:solidFill>
                <a:latin typeface="Arial"/>
                <a:ea typeface="Arial"/>
                <a:cs typeface="Arial"/>
              </a:defRPr>
            </a:pPr>
          </a:p>
        </c:txPr>
        <c:crossAx val="2094734552"/>
        <c:crosses val="autoZero"/>
      </c:catAx>
      <c:valAx>
        <c:axId val="2094734552"/>
        <c:scaling>
          <c:orientation val="minMax"/>
          <c:max val="1100"/>
        </c:scaling>
        <c:delete val="0"/>
        <c:axPos val="l"/>
        <c:majorGridlines>
          <c:spPr>
            <a:ln xmlns:a="http://schemas.openxmlformats.org/drawingml/2006/main" w="6350">
              <a:solidFill>
                <a:srgbClr val="E5E7EB"/>
              </a:solidFill>
              <a:prstDash val="solid"/>
            </a:ln>
          </c:spPr>
        </c:majorGridlines>
        <c:numFmt formatCode="General" sourceLinked="0"/>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1C2833"/>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100"/>
          </a:pPr>
        </a:p>
      </c:txPr>
    </c:legend>
    <c:plotVisOnly val="1"/>
  </c:chart>
  <c:spPr>
    <a:noFill xmlns:a="http://schemas.openxmlformats.org/drawingml/2006/main"/>
    <a:ln xmlns:a="http://schemas.openxmlformats.org/drawingml/2006/main">
      <a:noFill/>
    </a:ln>
  </c:spPr>
</c:chartSpace>
</file>

<file path=ppt/slides/charts/chart2.xml><?xml version="1.0" encoding="utf-8"?>
<c:chartSpace xmlns:c="http://schemas.openxmlformats.org/drawingml/2006/chart">
  <c:lang val="en-US"/>
  <c:chart>
    <c:plotArea>
      <c:scatterChart>
        <c:scatterStyle val="marker"/>
        <c:ser>
          <c:idx val="0"/>
          <c:order val="0"/>
          <c:tx>
            <c:v>Registered</c:v>
          </c:tx>
          <c:spPr>
            <a:solidFill xmlns:a="http://schemas.openxmlformats.org/drawingml/2006/main">
              <a:srgbClr val="2F7EA4"/>
            </a:solidFill>
            <a:ln xmlns:a="http://schemas.openxmlformats.org/drawingml/2006/main" w="953">
              <a:solidFill>
                <a:srgbClr val="000000">
                  <a:alpha val="0"/>
                </a:srgbClr>
              </a:solidFill>
              <a:prstDash val="solid"/>
            </a:ln>
          </c:spPr>
          <c:marker>
            <c:symbol val="none"/>
            <c:size val="9"/>
          </c:marker>
          <c:xVal>
            <c:numLit>
              <c:formatCode>General</c:formatCode>
              <c:ptCount val="2"/>
              <c:pt idx="0">
                <c:v>3</c:v>
              </c:pt>
              <c:pt idx="1">
                <c:v>4</c:v>
              </c:pt>
            </c:numLit>
          </c:xVal>
          <c:yVal>
            <c:numLit>
              <c:formatCode>0%</c:formatCode>
              <c:ptCount val="2"/>
              <c:pt idx="0">
                <c:v>0.175</c:v>
              </c:pt>
              <c:pt idx="1">
                <c:v>0</c:v>
              </c:pt>
            </c:numLit>
          </c:yVal>
        </c:ser>
        <c:ser>
          <c:idx val="1"/>
          <c:order val="1"/>
          <c:tx>
            <c:v>Exploratory</c:v>
          </c:tx>
          <c:spPr>
            <a:solidFill xmlns:a="http://schemas.openxmlformats.org/drawingml/2006/main">
              <a:srgbClr val="D97706"/>
            </a:solidFill>
            <a:ln xmlns:a="http://schemas.openxmlformats.org/drawingml/2006/main" w="953">
              <a:solidFill>
                <a:srgbClr val="000000">
                  <a:alpha val="0"/>
                </a:srgbClr>
              </a:solidFill>
              <a:prstDash val="solid"/>
            </a:ln>
          </c:spPr>
          <c:marker>
            <c:symbol val="none"/>
            <c:size val="9"/>
          </c:marker>
          <c:xVal>
            <c:numLit>
              <c:formatCode>General</c:formatCode>
              <c:ptCount val="5"/>
              <c:pt idx="0">
                <c:v>5</c:v>
              </c:pt>
              <c:pt idx="1">
                <c:v>6</c:v>
              </c:pt>
              <c:pt idx="2">
                <c:v>7</c:v>
              </c:pt>
              <c:pt idx="3">
                <c:v>8</c:v>
              </c:pt>
              <c:pt idx="4">
                <c:v>9</c:v>
              </c:pt>
            </c:numLit>
          </c:xVal>
          <c:yVal>
            <c:numLit>
              <c:formatCode>0%</c:formatCode>
              <c:ptCount val="5"/>
              <c:pt idx="0">
                <c:v>0</c:v>
              </c:pt>
              <c:pt idx="1">
                <c:v>0.454</c:v>
              </c:pt>
              <c:pt idx="2">
                <c:v>0.479</c:v>
              </c:pt>
              <c:pt idx="3">
                <c:v>0.821</c:v>
              </c:pt>
              <c:pt idx="4">
                <c:v>0.981</c:v>
              </c:pt>
            </c:numLit>
          </c:yVal>
        </c:ser>
        <c:ser>
          <c:idx val="2"/>
          <c:order val="2"/>
          <c:tx>
            <c:v>Pilot</c:v>
          </c:tx>
          <c:spPr>
            <a:solidFill xmlns:a="http://schemas.openxmlformats.org/drawingml/2006/main">
              <a:srgbClr val="64748B"/>
            </a:solidFill>
            <a:ln xmlns:a="http://schemas.openxmlformats.org/drawingml/2006/main" w="953">
              <a:solidFill>
                <a:srgbClr val="000000">
                  <a:alpha val="0"/>
                </a:srgbClr>
              </a:solidFill>
              <a:prstDash val="solid"/>
            </a:ln>
          </c:spPr>
          <c:marker>
            <c:symbol val="none"/>
            <c:size val="10"/>
          </c:marker>
          <c:xVal>
            <c:numLit>
              <c:formatCode>General</c:formatCode>
              <c:ptCount val="1"/>
              <c:pt idx="0">
                <c:v>10</c:v>
              </c:pt>
            </c:numLit>
          </c:xVal>
          <c:yVal>
            <c:numLit>
              <c:formatCode>0%</c:formatCode>
              <c:ptCount val="1"/>
              <c:pt idx="0">
                <c:v>1</c:v>
              </c:pt>
            </c:numLit>
          </c:yVal>
        </c:ser>
        <c:dLbls>
          <c:showLegendKey val="0"/>
          <c:showVal val="0"/>
          <c:showCatName val="0"/>
          <c:showSerName val="0"/>
          <c:showPercent val="0"/>
          <c:showBubbleSize val="0"/>
          <c:showLeaderLines val="0"/>
        </c:dLbls>
        <c:axId val="48650112"/>
        <c:axId val="48672768"/>
      </c:scatterChart>
      <c:valAx>
        <c:axId val="48672768"/>
        <c:scaling>
          <c:orientation val="minMax"/>
          <c:max val="1.05"/>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334155"/>
                    </a:solidFill>
                  </a:rPr>
                  <a:t>Out-of-bounds rate</a:t>
                </a:r>
              </a:p>
            </c:rich>
          </c:tx>
          <c:overlay val="0"/>
          <c:txPr>
            <a:bodyPr xmlns:a="http://schemas.openxmlformats.org/drawingml/2006/main" anchorCtr="1"/>
            <a:lstStyle xmlns:a="http://schemas.openxmlformats.org/drawingml/2006/main"/>
            <a:p xmlns:a="http://schemas.openxmlformats.org/drawingml/2006/main">
              <a:pPr>
                <a:defRPr sz="1050">
                  <a:solidFill>
                    <a:srgbClr val="334155"/>
                  </a:solidFill>
                </a:defRPr>
              </a:pPr>
            </a:p>
          </c:txPr>
        </c:title>
        <c:numFmt formatCode="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majorUnit val="0.2"/>
      </c:valAx>
      <c:valAx>
        <c:axId val="48650112"/>
        <c:scaling>
          <c:orientation val="minMax"/>
          <c:max val="10.5"/>
          <c:min val="2.5"/>
        </c:scaling>
        <c:delete val="0"/>
        <c:axPos val="b"/>
        <c:title>
          <c:tx>
            <c:rich>
              <a:bodyPr xmlns:a="http://schemas.openxmlformats.org/drawingml/2006/main"/>
              <a:lstStyle xmlns:a="http://schemas.openxmlformats.org/drawingml/2006/main"/>
              <a:p xmlns:a="http://schemas.openxmlformats.org/drawingml/2006/main">
                <a:r>
                  <a:rPr sz="1050">
                    <a:solidFill>
                      <a:srgbClr val="334155"/>
                    </a:solidFill>
                  </a:rPr>
                  <a:t>Prediction horizon N</a:t>
                </a:r>
              </a:p>
            </c:rich>
          </c:tx>
          <c:overlay val="0"/>
          <c:txPr>
            <a:bodyPr xmlns:a="http://schemas.openxmlformats.org/drawingml/2006/main" anchorCtr="1"/>
            <a:lstStyle xmlns:a="http://schemas.openxmlformats.org/drawingml/2006/main"/>
            <a:p xmlns:a="http://schemas.openxmlformats.org/drawingml/2006/main">
              <a:pPr>
                <a:defRPr sz="1050">
                  <a:solidFill>
                    <a:srgbClr val="334155"/>
                  </a:solidFill>
                </a:defRPr>
              </a:pPr>
            </a:p>
          </c:txPr>
        </c:title>
        <c:numFmt formatCode="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majorUnit val="1"/>
      </c:valAx>
      <c:spPr>
        <a:solidFill xmlns:a="http://schemas.openxmlformats.org/drawingml/2006/main">
          <a:srgbClr val="FFFFFF"/>
        </a:solidFill>
        <a:ln xmlns:a="http://schemas.openxmlformats.org/drawingml/2006/main" w="9525">
          <a:solidFill>
            <a:srgbClr val="CBD5E1"/>
          </a:solidFill>
          <a:prstDash val="solid"/>
        </a:ln>
      </c:spPr>
    </c:plotArea>
    <c:plotVisOnly val="1"/>
  </c:chart>
  <c:spPr>
    <a:solidFill xmlns:a="http://schemas.openxmlformats.org/drawingml/2006/main">
      <a:srgbClr val="FFFFFF"/>
    </a:solidFill>
    <a:ln xmlns:a="http://schemas.openxmlformats.org/drawingml/2006/main" w="9525">
      <a:solidFill>
        <a:srgbClr val="CBD5E1"/>
      </a:solidFill>
      <a:prstDash val="solid"/>
    </a:ln>
  </c:spPr>
</c:chartSpace>
</file>

<file path=ppt/slides/slide1.xml><?xml version="1.0" encoding="utf-8"?>
<p:sld xmlns:p="http://schemas.openxmlformats.org/presentationml/2006/main">
  <p:cSld>
    <p:bg>
      <p:bgPr>
        <a:solidFill xmlns:a="http://schemas.openxmlformats.org/drawingml/2006/main">
          <a:srgbClr val="1C283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AF3894-2F90-45C7-BA77-5E6071299598}"/>
              </a:ext>
            </a:extLst>
          </p:cNvPr>
          <p:cNvSpPr>
            <a:spLocks xmlns:a="http://schemas.openxmlformats.org/drawingml/2006/main" noGrp="1"/>
          </p:cNvSpPr>
          <p:nvPr/>
        </p:nvSpPr>
        <p:spPr>
          <a:xfrm xmlns:a="http://schemas.openxmlformats.org/drawingml/2006/main">
            <a:off x="731520" y="1417320"/>
            <a:ext cx="1069848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mbria"/>
                <a:ea typeface="Cambria"/>
                <a:cs typeface="Cambria"/>
              </a:rPr>
              <a:t>More Lookahead Is Not Always Safer</a:t>
            </a:r>
          </a:p>
        </p:txBody>
      </p:sp>
      <p:sp>
        <p:nvSpPr>
          <p:cNvPr id="3" name="Text 1">
            <a:extLst xmlns:a="http://schemas.openxmlformats.org/drawingml/2006/main">
              <a:ext uri="{FF2B5EF4-FFF2-40B4-BE49-F238E27FC236}">
                <a16:creationId xmlns:a16="http://schemas.microsoft.com/office/drawing/2014/main" id="{B13A469E-FDCF-4587-85F7-E578970E9734}"/>
              </a:ext>
            </a:extLst>
          </p:cNvPr>
          <p:cNvSpPr>
            <a:spLocks xmlns:a="http://schemas.openxmlformats.org/drawingml/2006/main" noGrp="1"/>
          </p:cNvSpPr>
          <p:nvPr/>
        </p:nvSpPr>
        <p:spPr>
          <a:xfrm xmlns:a="http://schemas.openxmlformats.org/drawingml/2006/main">
            <a:off x="731520" y="3063240"/>
            <a:ext cx="10698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CADCFC"/>
                </a:solidFill>
                <a:latin typeface="Calibri"/>
                <a:ea typeface="Calibri"/>
                <a:cs typeface="Calibri"/>
              </a:rPr>
              <a:t>What matched-delay experiments revealed about a heuristic safety monitor</a:t>
            </a:r>
          </a:p>
        </p:txBody>
      </p:sp>
      <p:sp>
        <p:nvSpPr>
          <p:cNvPr id="4" name="Text 2">
            <a:extLst xmlns:a="http://schemas.openxmlformats.org/drawingml/2006/main">
              <a:ext uri="{FF2B5EF4-FFF2-40B4-BE49-F238E27FC236}">
                <a16:creationId xmlns:a16="http://schemas.microsoft.com/office/drawing/2014/main" id="{943D921C-5A8E-4595-9AAF-086B63008B78}"/>
              </a:ext>
            </a:extLst>
          </p:cNvPr>
          <p:cNvSpPr>
            <a:spLocks xmlns:a="http://schemas.openxmlformats.org/drawingml/2006/main" noGrp="1"/>
          </p:cNvSpPr>
          <p:nvPr/>
        </p:nvSpPr>
        <p:spPr>
          <a:xfrm xmlns:a="http://schemas.openxmlformats.org/drawingml/2006/main">
            <a:off x="731520" y="3931920"/>
            <a:ext cx="10698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E5E7EB"/>
                </a:solidFill>
                <a:latin typeface="Calibri"/>
                <a:ea typeface="Calibri"/>
                <a:cs typeface="Calibri"/>
              </a:rPr>
              <a:t>EN.695.715 Assured Autonomy  ·  Ravi  ·  July 2026</a:t>
            </a:r>
          </a:p>
        </p:txBody>
      </p:sp>
      <p:sp>
        <p:nvSpPr>
          <p:cNvPr id="5" name="Text 3">
            <a:extLst xmlns:a="http://schemas.openxmlformats.org/drawingml/2006/main">
              <a:ext uri="{FF2B5EF4-FFF2-40B4-BE49-F238E27FC236}">
                <a16:creationId xmlns:a16="http://schemas.microsoft.com/office/drawing/2014/main" id="{82AF97E9-8CC3-421D-BFCB-6515F9D7135B}"/>
              </a:ext>
            </a:extLst>
          </p:cNvPr>
          <p:cNvSpPr>
            <a:spLocks xmlns:a="http://schemas.openxmlformats.org/drawingml/2006/main" noGrp="1"/>
          </p:cNvSpPr>
          <p:nvPr/>
        </p:nvSpPr>
        <p:spPr>
          <a:xfrm xmlns:a="http://schemas.openxmlformats.org/drawingml/2006/main">
            <a:off x="731520" y="4617720"/>
            <a:ext cx="2011680" cy="310896"/>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REGISTERED  n=1000</a:t>
            </a:r>
          </a:p>
        </p:txBody>
      </p:sp>
      <p:sp>
        <p:nvSpPr>
          <p:cNvPr id="6" name="Text 4">
            <a:extLst xmlns:a="http://schemas.openxmlformats.org/drawingml/2006/main">
              <a:ext uri="{FF2B5EF4-FFF2-40B4-BE49-F238E27FC236}">
                <a16:creationId xmlns:a16="http://schemas.microsoft.com/office/drawing/2014/main" id="{74D01499-F54E-4D0E-B90D-F08665197859}"/>
              </a:ext>
            </a:extLst>
          </p:cNvPr>
          <p:cNvSpPr>
            <a:spLocks xmlns:a="http://schemas.openxmlformats.org/drawingml/2006/main" noGrp="1"/>
          </p:cNvSpPr>
          <p:nvPr/>
        </p:nvSpPr>
        <p:spPr>
          <a:xfrm xmlns:a="http://schemas.openxmlformats.org/drawingml/2006/main">
            <a:off x="2880360" y="4617720"/>
            <a:ext cx="2011680" cy="310896"/>
          </a:xfrm>
          <a:prstGeom xmlns:a="http://schemas.openxmlformats.org/drawingml/2006/main" prst="roundRect">
            <a:avLst>
              <a:gd name="adj" fmla="val 50000"/>
            </a:avLst>
          </a:prstGeom>
          <a:solidFill xmlns:a="http://schemas.openxmlformats.org/drawingml/2006/main">
            <a:srgbClr val="1C2833"/>
          </a:solidFill>
          <a:ln xmlns:a="http://schemas.openxmlformats.org/drawingml/2006/main" w="9525">
            <a:solidFill>
              <a:srgbClr val="6B7280"/>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E5E7EB"/>
                </a:solidFill>
                <a:latin typeface="Calibri"/>
                <a:ea typeface="Calibri"/>
                <a:cs typeface="Calibri"/>
              </a:rPr>
              <a:t>PILOT  n=200</a:t>
            </a:r>
          </a:p>
        </p:txBody>
      </p:sp>
      <p:sp>
        <p:nvSpPr>
          <p:cNvPr id="7" name="Text 5">
            <a:extLst xmlns:a="http://schemas.openxmlformats.org/drawingml/2006/main">
              <a:ext uri="{FF2B5EF4-FFF2-40B4-BE49-F238E27FC236}">
                <a16:creationId xmlns:a16="http://schemas.microsoft.com/office/drawing/2014/main" id="{FE4BE147-BE64-421D-8566-6C7357DA181E}"/>
              </a:ext>
            </a:extLst>
          </p:cNvPr>
          <p:cNvSpPr>
            <a:spLocks xmlns:a="http://schemas.openxmlformats.org/drawingml/2006/main" noGrp="1"/>
          </p:cNvSpPr>
          <p:nvPr/>
        </p:nvSpPr>
        <p:spPr>
          <a:xfrm xmlns:a="http://schemas.openxmlformats.org/drawingml/2006/main">
            <a:off x="5029200" y="4617720"/>
            <a:ext cx="2011680" cy="310896"/>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a:solidFill>
              <a:srgbClr val="D97706"/>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EXPLORATORY  n=200/1000</a:t>
            </a:r>
          </a:p>
        </p:txBody>
      </p:sp>
      <p:sp>
        <p:nvSpPr>
          <p:cNvPr id="8" name="Text 6">
            <a:extLst xmlns:a="http://schemas.openxmlformats.org/drawingml/2006/main">
              <a:ext uri="{FF2B5EF4-FFF2-40B4-BE49-F238E27FC236}">
                <a16:creationId xmlns:a16="http://schemas.microsoft.com/office/drawing/2014/main" id="{28DFCEB6-5BEA-4AA0-A968-B42EE1119C63}"/>
              </a:ext>
            </a:extLst>
          </p:cNvPr>
          <p:cNvSpPr>
            <a:spLocks xmlns:a="http://schemas.openxmlformats.org/drawingml/2006/main" noGrp="1"/>
          </p:cNvSpPr>
          <p:nvPr/>
        </p:nvSpPr>
        <p:spPr>
          <a:xfrm xmlns:a="http://schemas.openxmlformats.org/drawingml/2006/main">
            <a:off x="731520" y="5989320"/>
            <a:ext cx="10698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B7280"/>
                </a:solidFill>
                <a:latin typeface="Calibri"/>
                <a:ea typeface="Calibri"/>
                <a:cs typeface="Calibri"/>
              </a:rPr>
              <a:t>Every number in this talk traces to a SHA-256-manifested artifact; evidence class is labeled on every result.</a:t>
            </a:r>
          </a:p>
        </p:txBody>
      </p:sp>
    </p:spTree>
    <p:extLst>
      <p:ext uri="{BB962C8B-B14F-4D97-AF65-F5344CB8AC3E}">
        <p14:creationId xmlns:p14="http://schemas.microsoft.com/office/powerpoint/2010/main" val="13230291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FDC39B-0E5C-4834-AA9B-74DECBC51D19}"/>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A learned controller, a delay queue, and two safety monitors</a:t>
            </a:r>
          </a:p>
        </p:txBody>
      </p:sp>
      <p:sp>
        <p:nvSpPr>
          <p:cNvPr id="3" name="Text 1">
            <a:extLst xmlns:a="http://schemas.openxmlformats.org/drawingml/2006/main">
              <a:ext uri="{FF2B5EF4-FFF2-40B4-BE49-F238E27FC236}">
                <a16:creationId xmlns:a16="http://schemas.microsoft.com/office/drawing/2014/main" id="{7F0EA9EC-4E09-43D7-BB76-672FBD8893B9}"/>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2D quadrotor (safe-control-gym) · delayed actuation · 100-step episodes · fixed initial state · one PPO checkpoint</a:t>
            </a:r>
          </a:p>
        </p:txBody>
      </p:sp>
      <p:graphicFrame>
        <p:nvGraphicFramePr>
          <p:cNvPr id="13" name="Table 0"/>
          <p:cNvGraphicFramePr/>
          <p:nvPr/>
        </p:nvGraphicFramePr>
        <p:xfrm>
          <a:off xmlns:a="http://schemas.openxmlformats.org/drawingml/2006/main" x="502920" y="1691640"/>
          <a:ext xmlns:a="http://schemas.openxmlformats.org/drawingml/2006/main" cx="5943600" cy="914400"/>
        </p:xfrm>
        <a:graphic xmlns:a="http://schemas.openxmlformats.org/drawingml/2006/main">
          <a:graphicData uri="http://schemas.openxmlformats.org/drawingml/2006/table">
            <a:tbl>
              <a:tblPr/>
              <a:tblGrid>
                <a:gridCol w="2971800"/>
                <a:gridCol w="2971800"/>
              </a:tblGrid>
              <a:tr h="384048">
                <a:tc>
                  <a:txBody>
                    <a:bodyPr/>
                    <a:lstStyle/>
                    <a:p>
                      <a:pPr marL="0" indent="0">
                        <a:buNone/>
                      </a:pPr>
                      <a:r>
                        <a:rPr sz="1200" b="1">
                          <a:solidFill>
                            <a:srgbClr val="FFFFFF"/>
                          </a:solidFill>
                          <a:latin typeface="Calibri"/>
                          <a:ea typeface="Calibri"/>
                          <a:cs typeface="Calibri"/>
                        </a:rPr>
                        <a:t>Arm</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2C6E91"/>
                    </a:solidFill>
                  </a:tcPr>
                </a:tc>
                <a:tc>
                  <a:txBody>
                    <a:bodyPr/>
                    <a:lstStyle/>
                    <a:p>
                      <a:pPr marL="0" indent="0">
                        <a:buNone/>
                      </a:pPr>
                      <a:r>
                        <a:rPr sz="1200" b="1">
                          <a:solidFill>
                            <a:srgbClr val="FFFFFF"/>
                          </a:solidFill>
                          <a:latin typeface="Calibri"/>
                          <a:ea typeface="Calibri"/>
                          <a:cs typeface="Calibri"/>
                        </a:rPr>
                        <a:t>What it is</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2C6E91"/>
                    </a:solidFill>
                  </a:tcPr>
                </a:tc>
              </a:tr>
              <a:tr h="384048">
                <a:tc>
                  <a:txBody>
                    <a:bodyPr/>
                    <a:lstStyle/>
                    <a:p>
                      <a:pPr marL="0" indent="0">
                        <a:buNone/>
                      </a:pPr>
                      <a:r>
                        <a:rPr sz="1200">
                          <a:solidFill>
                            <a:srgbClr val="1C2833"/>
                          </a:solidFill>
                          <a:latin typeface="Calibri"/>
                          <a:ea typeface="Calibri"/>
                          <a:cs typeface="Calibri"/>
                        </a:rPr>
                        <a:t>B</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1200">
                          <a:solidFill>
                            <a:srgbClr val="1C2833"/>
                          </a:solidFill>
                          <a:latin typeface="Calibri"/>
                          <a:ea typeface="Calibri"/>
                          <a:cs typeface="Calibri"/>
                        </a:rPr>
                        <a:t>Delayed PPO, no monitor (the unmonitored baseline)</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384048">
                <a:tc>
                  <a:txBody>
                    <a:bodyPr/>
                    <a:lstStyle/>
                    <a:p>
                      <a:pPr marL="0" indent="0">
                        <a:buNone/>
                      </a:pPr>
                      <a:r>
                        <a:rPr sz="1200">
                          <a:solidFill>
                            <a:srgbClr val="1C2833"/>
                          </a:solidFill>
                          <a:latin typeface="Calibri"/>
                          <a:ea typeface="Calibri"/>
                          <a:cs typeface="Calibri"/>
                        </a:rPr>
                        <a:t>D</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1200">
                          <a:solidFill>
                            <a:srgbClr val="1C2833"/>
                          </a:solidFill>
                          <a:latin typeface="Calibri"/>
                          <a:ea typeface="Calibri"/>
                          <a:cs typeface="Calibri"/>
                        </a:rPr>
                        <a:t>Delay-blind monitor: trigger + 8-candidate scorer, rollouts ignore the queue</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384048">
                <a:tc>
                  <a:txBody>
                    <a:bodyPr/>
                    <a:lstStyle/>
                    <a:p>
                      <a:pPr marL="0" indent="0">
                        <a:buNone/>
                      </a:pPr>
                      <a:r>
                        <a:rPr sz="1200">
                          <a:solidFill>
                            <a:srgbClr val="1C2833"/>
                          </a:solidFill>
                          <a:latin typeface="Calibri"/>
                          <a:ea typeface="Calibri"/>
                          <a:cs typeface="Calibri"/>
                        </a:rPr>
                        <a:t>E</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1200">
                          <a:solidFill>
                            <a:srgbClr val="1C2833"/>
                          </a:solidFill>
                          <a:latin typeface="Calibri"/>
                          <a:ea typeface="Calibri"/>
                          <a:cs typeface="Calibri"/>
                        </a:rPr>
                        <a:t>Delay-aware monitor: same library and score, rollouts condition on the pending FIFO queue</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384048">
                <a:tc>
                  <a:txBody>
                    <a:bodyPr/>
                    <a:lstStyle/>
                    <a:p>
                      <a:pPr marL="0" indent="0">
                        <a:buNone/>
                      </a:pPr>
                      <a:r>
                        <a:rPr sz="1200">
                          <a:solidFill>
                            <a:srgbClr val="1C2833"/>
                          </a:solidFill>
                          <a:latin typeface="Calibri"/>
                          <a:ea typeface="Calibri"/>
                          <a:cs typeface="Calibri"/>
                        </a:rPr>
                        <a:t>AP</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1200">
                          <a:solidFill>
                            <a:srgbClr val="1C2833"/>
                          </a:solidFill>
                          <a:latin typeface="Calibri"/>
                          <a:ea typeface="Calibri"/>
                          <a:cs typeface="Calibri"/>
                        </a:rPr>
                        <a:t>Projection-style selector over the same library (nearest predicted-safe; disclosed fallback)</a:t>
                      </a:r>
                    </a:p>
                  </a:txBody>
                  <a:tcPr marL="54864" marR="54864" marT="54864" marB="54864"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bl>
          </a:graphicData>
        </a:graphic>
      </p:graphicFrame>
      <p:sp>
        <p:nvSpPr>
          <p:cNvPr id="5" name="Shape 2">
            <a:extLst xmlns:a="http://schemas.openxmlformats.org/drawingml/2006/main">
              <a:ext uri="{FF2B5EF4-FFF2-40B4-BE49-F238E27FC236}">
                <a16:creationId xmlns:a16="http://schemas.microsoft.com/office/drawing/2014/main" id="{5DD73FAB-D41E-494D-AD21-5A0BABCB43CF}"/>
              </a:ext>
            </a:extLst>
          </p:cNvPr>
          <p:cNvSpPr>
            <a:spLocks xmlns:a="http://schemas.openxmlformats.org/drawingml/2006/main" noGrp="1"/>
          </p:cNvSpPr>
          <p:nvPr/>
        </p:nvSpPr>
        <p:spPr>
          <a:xfrm xmlns:a="http://schemas.openxmlformats.org/drawingml/2006/main">
            <a:off x="502920" y="3977640"/>
            <a:ext cx="5943600" cy="1051560"/>
          </a:xfrm>
          <a:prstGeom xmlns:a="http://schemas.openxmlformats.org/drawingml/2006/main" prst="roundRect">
            <a:avLst>
              <a:gd name="adj" fmla="val 6957"/>
            </a:avLst>
          </a:prstGeom>
          <a:solidFill xmlns:a="http://schemas.openxmlformats.org/drawingml/2006/main">
            <a:srgbClr val="F4F6F8"/>
          </a:solidFill>
          <a:ln xmlns:a="http://schemas.openxmlformats.org/drawingml/2006/main" w="9525">
            <a:solidFill>
              <a:srgbClr val="E5E7EB"/>
            </a:solidFill>
            <a:prstDash val="solid"/>
          </a:ln>
        </p:spPr>
      </p:sp>
      <p:sp>
        <p:nvSpPr>
          <p:cNvPr id="6" name="Text 3">
            <a:extLst xmlns:a="http://schemas.openxmlformats.org/drawingml/2006/main">
              <a:ext uri="{FF2B5EF4-FFF2-40B4-BE49-F238E27FC236}">
                <a16:creationId xmlns:a16="http://schemas.microsoft.com/office/drawing/2014/main" id="{C743FCBD-2BB1-4013-9531-7D25C9A99672}"/>
              </a:ext>
            </a:extLst>
          </p:cNvPr>
          <p:cNvSpPr>
            <a:spLocks xmlns:a="http://schemas.openxmlformats.org/drawingml/2006/main" noGrp="1"/>
          </p:cNvSpPr>
          <p:nvPr/>
        </p:nvSpPr>
        <p:spPr>
          <a:xfrm xmlns:a="http://schemas.openxmlformats.org/drawingml/2006/main">
            <a:off x="731520" y="4114800"/>
            <a:ext cx="5486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C2833"/>
                </a:solidFill>
                <a:latin typeface="Calibri"/>
                <a:ea typeface="Calibri"/>
                <a:cs typeface="Calibri"/>
              </a:rPr>
              <a:t>Score (both monitors, horizon N):  </a:t>
            </a:r>
            <a:r>
              <a:rPr sz="1200">
                <a:solidFill>
                  <a:srgbClr val="1C2833"/>
                </a:solidFill>
                <a:latin typeface="Calibri"/>
                <a:ea typeface="Calibri"/>
                <a:cs typeface="Calibri"/>
              </a:rPr>
              <a:t>J(c) = 100·max violation over N predicted steps + action-bounds + RMSE-to-reference + small L2. Trigger and scorer share the horizon constant.</a:t>
            </a:r>
          </a:p>
        </p:txBody>
      </p:sp>
      <p:sp>
        <p:nvSpPr>
          <p:cNvPr id="7" name="Text 4">
            <a:extLst xmlns:a="http://schemas.openxmlformats.org/drawingml/2006/main">
              <a:ext uri="{FF2B5EF4-FFF2-40B4-BE49-F238E27FC236}">
                <a16:creationId xmlns:a16="http://schemas.microsoft.com/office/drawing/2014/main" id="{F88D95D6-BE42-461E-BEF3-ABADFED5C212}"/>
              </a:ext>
            </a:extLst>
          </p:cNvPr>
          <p:cNvSpPr>
            <a:spLocks xmlns:a="http://schemas.openxmlformats.org/drawingml/2006/main" noGrp="1"/>
          </p:cNvSpPr>
          <p:nvPr/>
        </p:nvSpPr>
        <p:spPr>
          <a:xfrm xmlns:a="http://schemas.openxmlformats.org/drawingml/2006/main">
            <a:off x="6720840" y="1737360"/>
            <a:ext cx="4983480" cy="4389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1,000 matched delay schedules per arm; endpoint = out-of-bounds exit; exact McNemar on discordant pairs.</a:t>
            </a:r>
          </a:p>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Failure families: exact trajectory classes by terminal-state + applied-action-sequence hash (12-decimal).</a:t>
            </a:r>
          </a:p>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Protocol discipline: preregistration frozen (SHA-256) before data; structural gates as hard asserts; seed echoes; every artifact hash-manifested.</a:t>
            </a:r>
          </a:p>
          <a:p xmlns:a="http://schemas.openxmlformats.org/drawingml/2006/main">
            <a:pPr marL="152400" indent="-152400">
              <a:spcAft>
                <a:spcPts val="1100"/>
              </a:spcAft>
              <a:buSzPct val="100000"/>
              <a:buChar char="•"/>
            </a:pPr>
            <a:r>
              <a:rPr sz="1250" b="1">
                <a:solidFill>
                  <a:srgbClr val="1C2833"/>
                </a:solidFill>
                <a:latin typeface="Calibri"/>
                <a:ea typeface="Calibri"/>
                <a:cs typeface="Calibri"/>
              </a:rPr>
              <a:t>Evidence classes — registered: preregistered + 1,000-seed confirmation. pilot: 200-seed protocol runs. exploratory: labeled post-pilot additions with pre-committed readings.</a:t>
            </a:r>
          </a:p>
        </p:txBody>
      </p:sp>
      <p:sp>
        <p:nvSpPr>
          <p:cNvPr id="8" name="Text 5">
            <a:extLst xmlns:a="http://schemas.openxmlformats.org/drawingml/2006/main">
              <a:ext uri="{FF2B5EF4-FFF2-40B4-BE49-F238E27FC236}">
                <a16:creationId xmlns:a16="http://schemas.microsoft.com/office/drawing/2014/main" id="{B60DA79D-A9F0-4059-AF03-C944AC9607B0}"/>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Full protocol, gates, and manifests: paper appendices</a:t>
            </a:r>
          </a:p>
        </p:txBody>
      </p:sp>
      <p:sp>
        <p:nvSpPr>
          <p:cNvPr id="9" name="Text 6">
            <a:extLst xmlns:a="http://schemas.openxmlformats.org/drawingml/2006/main">
              <a:ext uri="{FF2B5EF4-FFF2-40B4-BE49-F238E27FC236}">
                <a16:creationId xmlns:a16="http://schemas.microsoft.com/office/drawing/2014/main" id="{328C98EA-5A48-4E50-9770-D28CE88D7765}"/>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2</a:t>
            </a:r>
          </a:p>
        </p:txBody>
      </p:sp>
    </p:spTree>
    <p:extLst>
      <p:ext uri="{BB962C8B-B14F-4D97-AF65-F5344CB8AC3E}">
        <p14:creationId xmlns:p14="http://schemas.microsoft.com/office/powerpoint/2010/main" val="19437718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62CFA3-9742-40BD-9E1A-D8C089A243D9}"/>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The baseline result: the queue-aware monitor increases the OOB tail</a:t>
            </a:r>
          </a:p>
        </p:txBody>
      </p:sp>
      <p:sp>
        <p:nvSpPr>
          <p:cNvPr id="3" name="Text 1">
            <a:extLst xmlns:a="http://schemas.openxmlformats.org/drawingml/2006/main">
              <a:ext uri="{FF2B5EF4-FFF2-40B4-BE49-F238E27FC236}">
                <a16:creationId xmlns:a16="http://schemas.microsoft.com/office/drawing/2014/main" id="{18879C84-057B-4EB1-9DDA-CAB762EE908B}"/>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Uniform actuation delay — the monitor built for delay loses to the one that ignores it</a:t>
            </a:r>
          </a:p>
        </p:txBody>
      </p:sp>
      <p:sp>
        <p:nvSpPr>
          <p:cNvPr id="4" name="Text 2">
            <a:extLst xmlns:a="http://schemas.openxmlformats.org/drawingml/2006/main">
              <a:ext uri="{FF2B5EF4-FFF2-40B4-BE49-F238E27FC236}">
                <a16:creationId xmlns:a16="http://schemas.microsoft.com/office/drawing/2014/main" id="{BFEBF964-88DB-48F2-B02E-9431CCBBC7F8}"/>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f3e6e23a72bf4d6a"/>
          <a:stretch xmlns:a="http://schemas.openxmlformats.org/drawingml/2006/main">
            <a:fillRect l="0" t="0" r="0" b="0"/>
          </a:stretch>
        </p:blipFill>
        <p:spPr>
          <a:xfrm xmlns:a="http://schemas.openxmlformats.org/drawingml/2006/main">
            <a:off x="502920" y="1737360"/>
            <a:ext cx="5532120" cy="4334256"/>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1AF7A86-44D2-4C99-93FE-24E9D7568EB8}"/>
              </a:ext>
            </a:extLst>
          </p:cNvPr>
          <p:cNvSpPr>
            <a:spLocks xmlns:a="http://schemas.openxmlformats.org/drawingml/2006/main" noGrp="1"/>
          </p:cNvSpPr>
          <p:nvPr/>
        </p:nvSpPr>
        <p:spPr>
          <a:xfrm xmlns:a="http://schemas.openxmlformats.org/drawingml/2006/main">
            <a:off x="6355080" y="1920240"/>
            <a:ext cx="5349240"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B91C1C"/>
                </a:solidFill>
                <a:latin typeface="Calibri"/>
                <a:ea typeface="Calibri"/>
                <a:cs typeface="Calibri"/>
              </a:rPr>
              <a:t>Queue-aware monitor (N=3): 159 / 1000 out-of-bounds exits</a:t>
            </a:r>
          </a:p>
          <a:p xmlns:a="http://schemas.openxmlformats.org/drawingml/2006/main">
            <a:pPr marL="0" indent="0">
              <a:spcAft>
                <a:spcPts val="1000"/>
              </a:spcAft>
              <a:buNone/>
            </a:pPr>
            <a:r>
              <a:rPr sz="1200">
                <a:solidFill>
                  <a:srgbClr val="1C2833"/>
                </a:solidFill>
                <a:latin typeface="Calibri"/>
                <a:ea typeface="Calibri"/>
                <a:cs typeface="Calibri"/>
              </a:rPr>
              <a:t>Current-state monitor: 0 / 1000    Policy alone: 0 / 1000</a:t>
            </a:r>
          </a:p>
          <a:p xmlns:a="http://schemas.openxmlformats.org/drawingml/2006/main">
            <a:pPr marL="0" indent="0">
              <a:spcAft>
                <a:spcPts val="1200"/>
              </a:spcAft>
              <a:buNone/>
            </a:pPr>
            <a:r>
              <a:rPr sz="1800" b="1">
                <a:solidFill>
                  <a:srgbClr val="1E7F4F"/>
                </a:solidFill>
                <a:latin typeface="Calibri"/>
                <a:ea typeface="Calibri"/>
                <a:cs typeface="Calibri"/>
              </a:rPr>
              <a:t>All 159 matched pairs favor the queue-aware monitor.</a:t>
            </a:r>
          </a:p>
          <a:p xmlns:a="http://schemas.openxmlformats.org/drawingml/2006/main">
            <a:pPr marL="0" indent="0">
              <a:spcAft>
                <a:spcPts val="1200"/>
              </a:spcAft>
              <a:buNone/>
            </a:pPr>
            <a:r>
              <a:rPr sz="1250">
                <a:solidFill>
                  <a:srgbClr val="1C2833"/>
                </a:solidFill>
                <a:latin typeface="Calibri"/>
                <a:ea typeface="Calibri"/>
                <a:cs typeface="Calibri"/>
              </a:rPr>
              <a:t>Fresh-range reproduction: 175 / 1000.</a:t>
            </a:r>
          </a:p>
          <a:p xmlns:a="http://schemas.openxmlformats.org/drawingml/2006/main">
            <a:pPr marL="0" indent="0">
              <a:buNone/>
            </a:pPr>
            <a:r>
              <a:rPr sz="1250" i="1">
                <a:solidFill>
                  <a:srgbClr val="1C2833"/>
                </a:solidFill>
                <a:latin typeface="Calibri"/>
                <a:ea typeface="Calibri"/>
                <a:cs typeface="Calibri"/>
              </a:rPr>
              <a:t>The severity reversal is censoring: failed episodes stop early, so OOB occurrence is primary.</a:t>
            </a:r>
          </a:p>
        </p:txBody>
      </p:sp>
      <p:sp>
        <p:nvSpPr>
          <p:cNvPr id="7" name="Text 4">
            <a:extLst xmlns:a="http://schemas.openxmlformats.org/drawingml/2006/main">
              <a:ext uri="{FF2B5EF4-FFF2-40B4-BE49-F238E27FC236}">
                <a16:creationId xmlns:a16="http://schemas.microsoft.com/office/drawing/2014/main" id="{236F897B-D1C6-4D44-B311-11EE8B412221}"/>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Left: F5 family representative, failure seed 1373 vs schedule-matched survivor — pitch pinned at the bound while forward velocity compounds</a:t>
            </a:r>
          </a:p>
        </p:txBody>
      </p:sp>
      <p:sp>
        <p:nvSpPr>
          <p:cNvPr id="8" name="Text 5">
            <a:extLst xmlns:a="http://schemas.openxmlformats.org/drawingml/2006/main">
              <a:ext uri="{FF2B5EF4-FFF2-40B4-BE49-F238E27FC236}">
                <a16:creationId xmlns:a16="http://schemas.microsoft.com/office/drawing/2014/main" id="{4BBC390D-4186-468D-AF2D-5A46AA14AE19}"/>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3</a:t>
            </a:r>
          </a:p>
        </p:txBody>
      </p:sp>
    </p:spTree>
    <p:extLst>
      <p:ext uri="{BB962C8B-B14F-4D97-AF65-F5344CB8AC3E}">
        <p14:creationId xmlns:p14="http://schemas.microsoft.com/office/powerpoint/2010/main" val="100957696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FEE99B-D192-4B0B-BFFB-829B4845A78E}"/>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The failure tail is six deterministic trajectory families</a:t>
            </a:r>
          </a:p>
        </p:txBody>
      </p:sp>
      <p:sp>
        <p:nvSpPr>
          <p:cNvPr id="3" name="Text 1">
            <a:extLst xmlns:a="http://schemas.openxmlformats.org/drawingml/2006/main">
              <a:ext uri="{FF2B5EF4-FFF2-40B4-BE49-F238E27FC236}">
                <a16:creationId xmlns:a16="http://schemas.microsoft.com/office/drawing/2014/main" id="{67486B6F-39EF-4BBF-946A-C9FEE6E0CF47}"/>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Exact terminal-state + action-sequence hashing collapses the tail into deterministic families</a:t>
            </a:r>
          </a:p>
        </p:txBody>
      </p:sp>
      <p:sp>
        <p:nvSpPr>
          <p:cNvPr id="4" name="Text 2">
            <a:extLst xmlns:a="http://schemas.openxmlformats.org/drawingml/2006/main">
              <a:ext uri="{FF2B5EF4-FFF2-40B4-BE49-F238E27FC236}">
                <a16:creationId xmlns:a16="http://schemas.microsoft.com/office/drawing/2014/main" id="{698BAD02-B9C7-4EE4-8E1D-AC4F3B74A00C}"/>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b13ae1982b9a4deb"/>
          <a:stretch xmlns:a="http://schemas.openxmlformats.org/drawingml/2006/main">
            <a:fillRect l="0" t="0" r="0" b="0"/>
          </a:stretch>
        </p:blipFill>
        <p:spPr>
          <a:xfrm xmlns:a="http://schemas.openxmlformats.org/drawingml/2006/main">
            <a:off x="502920" y="1828800"/>
            <a:ext cx="6903720" cy="385876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639752A-5C9D-4B5A-854E-0A0227712AC5}"/>
              </a:ext>
            </a:extLst>
          </p:cNvPr>
          <p:cNvSpPr>
            <a:spLocks xmlns:a="http://schemas.openxmlformats.org/drawingml/2006/main" noGrp="1"/>
          </p:cNvSpPr>
          <p:nvPr/>
        </p:nvSpPr>
        <p:spPr>
          <a:xfrm xmlns:a="http://schemas.openxmlformats.org/drawingml/2006/main">
            <a:off x="7635240" y="1828800"/>
            <a:ext cx="4069080" cy="4206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100"/>
              </a:spcAft>
              <a:buSzPct val="100000"/>
              <a:buChar char="•"/>
            </a:pPr>
            <a:r>
              <a:rPr sz="1250" b="1">
                <a:solidFill>
                  <a:srgbClr val="1C2833"/>
                </a:solidFill>
                <a:latin typeface="Calibri"/>
                <a:ea typeface="Calibri"/>
                <a:cs typeface="Calibri"/>
              </a:rPr>
              <a:t>159 failures map to six exact terminal-state + full-action signatures.</a:t>
            </a:r>
          </a:p>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Basins 72 / 40 / 31 / 9 / 6 / 1; three cover 89.9% of failures.</a:t>
            </a:r>
          </a:p>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All six exit at steps 77–82.</a:t>
            </a:r>
          </a:p>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This is systematic evidence, but the mechanistic sample is six families—not 159 independent trajectories.</a:t>
            </a:r>
          </a:p>
        </p:txBody>
      </p:sp>
      <p:sp>
        <p:nvSpPr>
          <p:cNvPr id="7" name="Text 4">
            <a:extLst xmlns:a="http://schemas.openxmlformats.org/drawingml/2006/main">
              <a:ext uri="{FF2B5EF4-FFF2-40B4-BE49-F238E27FC236}">
                <a16:creationId xmlns:a16="http://schemas.microsoft.com/office/drawing/2014/main" id="{79C30902-274A-4023-9FCA-B5571CB227D6}"/>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e_iid_key_insights_v3.md · fresh confirmation range adds a seventh 2-seed signature (six named cover 173/175)</a:t>
            </a:r>
          </a:p>
        </p:txBody>
      </p:sp>
      <p:sp>
        <p:nvSpPr>
          <p:cNvPr id="8" name="Text 5">
            <a:extLst xmlns:a="http://schemas.openxmlformats.org/drawingml/2006/main">
              <a:ext uri="{FF2B5EF4-FFF2-40B4-BE49-F238E27FC236}">
                <a16:creationId xmlns:a16="http://schemas.microsoft.com/office/drawing/2014/main" id="{6532778D-32B2-4025-993F-2EB40ECEA663}"/>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4</a:t>
            </a:r>
          </a:p>
        </p:txBody>
      </p:sp>
    </p:spTree>
    <p:extLst>
      <p:ext uri="{BB962C8B-B14F-4D97-AF65-F5344CB8AC3E}">
        <p14:creationId xmlns:p14="http://schemas.microsoft.com/office/powerpoint/2010/main" val="8358620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A04EF75-E8E9-4143-B3B2-923762B76387}"/>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Neither monitor dominates: fault-profile dependence</a:t>
            </a:r>
          </a:p>
        </p:txBody>
      </p:sp>
      <p:sp>
        <p:nvSpPr>
          <p:cNvPr id="3" name="Text 1">
            <a:extLst xmlns:a="http://schemas.openxmlformats.org/drawingml/2006/main">
              <a:ext uri="{FF2B5EF4-FFF2-40B4-BE49-F238E27FC236}">
                <a16:creationId xmlns:a16="http://schemas.microsoft.com/office/drawing/2014/main" id="{240C58DB-DD07-4AD9-AA1B-858E916D75A0}"/>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Pre-registered thrust-effectiveness study · 1,000 matched seeds per profile · fault-profile conclusions are pipeline-scoped</a:t>
            </a:r>
          </a:p>
        </p:txBody>
      </p:sp>
      <p:sp>
        <p:nvSpPr>
          <p:cNvPr id="4" name="Text 2">
            <a:extLst xmlns:a="http://schemas.openxmlformats.org/drawingml/2006/main">
              <a:ext uri="{FF2B5EF4-FFF2-40B4-BE49-F238E27FC236}">
                <a16:creationId xmlns:a16="http://schemas.microsoft.com/office/drawing/2014/main" id="{41DF6E9D-CBA9-45DE-9CAE-ADB6C2525C1C}"/>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e0dc37b818c405e"/>
          <a:stretch xmlns:a="http://schemas.openxmlformats.org/drawingml/2006/main">
            <a:fillRect l="0" t="0" r="0" b="0"/>
          </a:stretch>
        </p:blipFill>
        <p:spPr>
          <a:xfrm xmlns:a="http://schemas.openxmlformats.org/drawingml/2006/main">
            <a:off x="502920" y="1572768"/>
            <a:ext cx="7315200" cy="1060704"/>
          </a:xfrm>
          <a:prstGeom xmlns:a="http://schemas.openxmlformats.org/drawingml/2006/main" prst="rect">
            <a:avLst/>
          </a:prstGeom>
        </p:spPr>
      </p:pic>
      <p:graphicFrame>
        <p:nvGraphicFramePr>
          <p:cNvPr id="16" name="Chart 0"/>
          <p:cNvGraphicFramePr/>
          <p:nvPr/>
        </p:nvGraphicFramePr>
        <p:xfrm>
          <a:off xmlns:a="http://schemas.openxmlformats.org/drawingml/2006/main" x="502920" y="2743200"/>
          <a:ext xmlns:a="http://schemas.openxmlformats.org/drawingml/2006/main" cx="7315200" cy="3310128"/>
        </p:xfrm>
        <a:graphic xmlns:a="http://schemas.openxmlformats.org/drawingml/2006/main">
          <a:graphicData uri="http://schemas.openxmlformats.org/drawingml/2006/chart">
            <c:chart xmlns:r="http://schemas.openxmlformats.org/officeDocument/2006/relationships" xmlns:c="http://schemas.openxmlformats.org/drawingml/2006/chart" r:id="R8f08677d1bfa491d"/>
          </a:graphicData>
        </a:graphic>
      </p:graphicFrame>
      <p:sp>
        <p:nvSpPr>
          <p:cNvPr id="7" name="Text 3">
            <a:extLst xmlns:a="http://schemas.openxmlformats.org/drawingml/2006/main">
              <a:ext uri="{FF2B5EF4-FFF2-40B4-BE49-F238E27FC236}">
                <a16:creationId xmlns:a16="http://schemas.microsoft.com/office/drawing/2014/main" id="{49A32C9C-6C8B-4B70-9C69-1D2163A1F375}"/>
              </a:ext>
            </a:extLst>
          </p:cNvPr>
          <p:cNvSpPr>
            <a:spLocks xmlns:a="http://schemas.openxmlformats.org/drawingml/2006/main" noGrp="1"/>
          </p:cNvSpPr>
          <p:nvPr/>
        </p:nvSpPr>
        <p:spPr>
          <a:xfrm xmlns:a="http://schemas.openxmlformats.org/drawingml/2006/main">
            <a:off x="8001000" y="1783080"/>
            <a:ext cx="370332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100"/>
              </a:spcAft>
              <a:buSzPct val="100000"/>
              <a:buChar char="•"/>
            </a:pPr>
            <a:r>
              <a:rPr sz="1200">
                <a:solidFill>
                  <a:srgbClr val="1C2833"/>
                </a:solidFill>
                <a:latin typeface="Calibri"/>
                <a:ea typeface="Calibri"/>
                <a:cs typeface="Calibri"/>
              </a:rPr>
              <a:t>Gradual loss: D fails on every seed (1000/1000); the bare policy beats both monitors (103 vs 302 vs 1000).</a:t>
            </a:r>
          </a:p>
          <a:p xmlns:a="http://schemas.openxmlformats.org/drawingml/2006/main">
            <a:pPr marL="152400" indent="-152400">
              <a:spcAft>
                <a:spcPts val="1100"/>
              </a:spcAft>
              <a:buSzPct val="100000"/>
              <a:buChar char="•"/>
            </a:pPr>
            <a:r>
              <a:rPr sz="1200">
                <a:solidFill>
                  <a:srgbClr val="1C2833"/>
                </a:solidFill>
                <a:latin typeface="Calibri"/>
                <a:ea typeface="Calibri"/>
                <a:cs typeface="Calibri"/>
              </a:rPr>
              <a:t>Persistent loss: both monitors beat the bare policy (56 and 170 vs 348).</a:t>
            </a:r>
          </a:p>
          <a:p xmlns:a="http://schemas.openxmlformats.org/drawingml/2006/main">
            <a:pPr marL="152400" indent="-152400">
              <a:spcAft>
                <a:spcPts val="1100"/>
              </a:spcAft>
              <a:buSzPct val="100000"/>
              <a:buChar char="•"/>
            </a:pPr>
            <a:r>
              <a:rPr sz="1200" b="1">
                <a:solidFill>
                  <a:srgbClr val="1C2833"/>
                </a:solidFill>
                <a:latin typeface="Calibri"/>
                <a:ea typeface="Calibri"/>
                <a:cs typeface="Calibri"/>
              </a:rPr>
              <a:t>A monitor can be strictly worse than no monitor — in either direction — depending on fault timing.</a:t>
            </a:r>
          </a:p>
          <a:p xmlns:a="http://schemas.openxmlformats.org/drawingml/2006/main">
            <a:pPr marL="152400" indent="-152400">
              <a:spcAft>
                <a:spcPts val="1100"/>
              </a:spcAft>
              <a:buSzPct val="100000"/>
              <a:buChar char="•"/>
            </a:pPr>
            <a:r>
              <a:rPr sz="1200">
                <a:solidFill>
                  <a:srgbClr val="1C2833"/>
                </a:solidFill>
                <a:latin typeface="Calibri"/>
                <a:ea typeface="Calibri"/>
                <a:cs typeface="Calibri"/>
              </a:rPr>
              <a:t>Under corrected physical conversion, gradual B/D/E counts are 0/1000, 0/1000, and 96/1000. E remains worse than B, but the canonical D/E ordering does not transfer.</a:t>
            </a:r>
          </a:p>
        </p:txBody>
      </p:sp>
      <p:sp>
        <p:nvSpPr>
          <p:cNvPr id="8" name="Text 4">
            <a:extLst xmlns:a="http://schemas.openxmlformats.org/drawingml/2006/main">
              <a:ext uri="{FF2B5EF4-FFF2-40B4-BE49-F238E27FC236}">
                <a16:creationId xmlns:a16="http://schemas.microsoft.com/office/drawing/2014/main" id="{97C037BB-1DE3-441F-A40F-873895C1B075}"/>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Pre-registered 2026-07-20 study · prereg SHA dc93e0d3… · pipeline reconciliation in the paper</a:t>
            </a:r>
          </a:p>
        </p:txBody>
      </p:sp>
      <p:sp>
        <p:nvSpPr>
          <p:cNvPr id="9" name="Text 5">
            <a:extLst xmlns:a="http://schemas.openxmlformats.org/drawingml/2006/main">
              <a:ext uri="{FF2B5EF4-FFF2-40B4-BE49-F238E27FC236}">
                <a16:creationId xmlns:a16="http://schemas.microsoft.com/office/drawing/2014/main" id="{3816D25E-7AA1-4439-8C2B-E5986B2B4923}"/>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5</a:t>
            </a:r>
          </a:p>
        </p:txBody>
      </p:sp>
    </p:spTree>
    <p:extLst>
      <p:ext uri="{BB962C8B-B14F-4D97-AF65-F5344CB8AC3E}">
        <p14:creationId xmlns:p14="http://schemas.microsoft.com/office/powerpoint/2010/main" val="19035438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F45580-CEC9-41C8-A563-2433F08C9CE8}"/>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First repair attempt: a velocity-gated penalty — and its honest audit</a:t>
            </a:r>
          </a:p>
        </p:txBody>
      </p:sp>
      <p:sp>
        <p:nvSpPr>
          <p:cNvPr id="3" name="Text 1">
            <a:extLst xmlns:a="http://schemas.openxmlformats.org/drawingml/2006/main">
              <a:ext uri="{FF2B5EF4-FFF2-40B4-BE49-F238E27FC236}">
                <a16:creationId xmlns:a16="http://schemas.microsoft.com/office/drawing/2014/main" id="{B2863966-1AA7-429D-BE21-3A517061E015}"/>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λ=50 penalty on predicted forward drift at positive pitch, frozen confirmation on disjoint seeds</a:t>
            </a:r>
          </a:p>
        </p:txBody>
      </p:sp>
      <p:sp>
        <p:nvSpPr>
          <p:cNvPr id="4" name="Text 2">
            <a:extLst xmlns:a="http://schemas.openxmlformats.org/drawingml/2006/main">
              <a:ext uri="{FF2B5EF4-FFF2-40B4-BE49-F238E27FC236}">
                <a16:creationId xmlns:a16="http://schemas.microsoft.com/office/drawing/2014/main" id="{DDADB975-8D76-4E54-9E3B-B981A005279B}"/>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sp>
        <p:nvSpPr>
          <p:cNvPr id="5" name="Shape 3">
            <a:extLst xmlns:a="http://schemas.openxmlformats.org/drawingml/2006/main">
              <a:ext uri="{FF2B5EF4-FFF2-40B4-BE49-F238E27FC236}">
                <a16:creationId xmlns:a16="http://schemas.microsoft.com/office/drawing/2014/main" id="{73BC24C8-950C-4DF0-A419-DAD34610AC63}"/>
              </a:ext>
            </a:extLst>
          </p:cNvPr>
          <p:cNvSpPr>
            <a:spLocks xmlns:a="http://schemas.openxmlformats.org/drawingml/2006/main" noGrp="1"/>
          </p:cNvSpPr>
          <p:nvPr/>
        </p:nvSpPr>
        <p:spPr>
          <a:xfrm xmlns:a="http://schemas.openxmlformats.org/drawingml/2006/main">
            <a:off x="502920" y="178308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p:spPr>
      </p:sp>
      <p:sp>
        <p:nvSpPr>
          <p:cNvPr id="6" name="Text 4">
            <a:extLst xmlns:a="http://schemas.openxmlformats.org/drawingml/2006/main">
              <a:ext uri="{FF2B5EF4-FFF2-40B4-BE49-F238E27FC236}">
                <a16:creationId xmlns:a16="http://schemas.microsoft.com/office/drawing/2014/main" id="{10DC7B6A-C17E-4CA9-92AC-F95F5F54CFB7}"/>
              </a:ext>
            </a:extLst>
          </p:cNvPr>
          <p:cNvSpPr>
            <a:spLocks xmlns:a="http://schemas.openxmlformats.org/drawingml/2006/main" noGrp="1"/>
          </p:cNvSpPr>
          <p:nvPr/>
        </p:nvSpPr>
        <p:spPr>
          <a:xfrm xmlns:a="http://schemas.openxmlformats.org/drawingml/2006/main">
            <a:off x="777240" y="196596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C6E91"/>
                </a:solidFill>
                <a:latin typeface="Calibri"/>
                <a:ea typeface="Calibri"/>
                <a:cs typeface="Calibri"/>
              </a:rPr>
              <a:t>Endpoint result</a:t>
            </a:r>
          </a:p>
        </p:txBody>
      </p:sp>
      <p:sp>
        <p:nvSpPr>
          <p:cNvPr id="7" name="Text 5">
            <a:extLst xmlns:a="http://schemas.openxmlformats.org/drawingml/2006/main">
              <a:ext uri="{FF2B5EF4-FFF2-40B4-BE49-F238E27FC236}">
                <a16:creationId xmlns:a16="http://schemas.microsoft.com/office/drawing/2014/main" id="{84798325-B676-44F8-9753-465621771862}"/>
              </a:ext>
            </a:extLst>
          </p:cNvPr>
          <p:cNvSpPr>
            <a:spLocks xmlns:a="http://schemas.openxmlformats.org/drawingml/2006/main" noGrp="1"/>
          </p:cNvSpPr>
          <p:nvPr/>
        </p:nvSpPr>
        <p:spPr>
          <a:xfrm xmlns:a="http://schemas.openxmlformats.org/drawingml/2006/main">
            <a:off x="777240" y="2368296"/>
            <a:ext cx="48920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150/1000 → 0/1000 OOB on the frozen block (p=1.4e-45); gradual 9/100 → 0/100.</a:t>
            </a:r>
          </a:p>
        </p:txBody>
      </p:sp>
      <p:sp>
        <p:nvSpPr>
          <p:cNvPr id="8" name="Shape 6">
            <a:extLst xmlns:a="http://schemas.openxmlformats.org/drawingml/2006/main">
              <a:ext uri="{FF2B5EF4-FFF2-40B4-BE49-F238E27FC236}">
                <a16:creationId xmlns:a16="http://schemas.microsoft.com/office/drawing/2014/main" id="{D2F6D5D0-C65E-452C-87D4-0991C7B6CD70}"/>
              </a:ext>
            </a:extLst>
          </p:cNvPr>
          <p:cNvSpPr>
            <a:spLocks xmlns:a="http://schemas.openxmlformats.org/drawingml/2006/main" noGrp="1"/>
          </p:cNvSpPr>
          <p:nvPr/>
        </p:nvSpPr>
        <p:spPr>
          <a:xfrm xmlns:a="http://schemas.openxmlformats.org/drawingml/2006/main">
            <a:off x="6217920" y="178308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p:spPr>
      </p:sp>
      <p:sp>
        <p:nvSpPr>
          <p:cNvPr id="9" name="Text 7">
            <a:extLst xmlns:a="http://schemas.openxmlformats.org/drawingml/2006/main">
              <a:ext uri="{FF2B5EF4-FFF2-40B4-BE49-F238E27FC236}">
                <a16:creationId xmlns:a16="http://schemas.microsoft.com/office/drawing/2014/main" id="{5D8016BC-4DEA-4CB6-909C-81E4FE4F3579}"/>
              </a:ext>
            </a:extLst>
          </p:cNvPr>
          <p:cNvSpPr>
            <a:spLocks xmlns:a="http://schemas.openxmlformats.org/drawingml/2006/main" noGrp="1"/>
          </p:cNvSpPr>
          <p:nvPr/>
        </p:nvSpPr>
        <p:spPr>
          <a:xfrm xmlns:a="http://schemas.openxmlformats.org/drawingml/2006/main">
            <a:off x="6492240" y="196596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B91C1C"/>
                </a:solidFill>
                <a:latin typeface="Calibri"/>
                <a:ea typeface="Calibri"/>
                <a:cs typeface="Calibri"/>
              </a:rPr>
              <a:t>What the extended audit found</a:t>
            </a:r>
          </a:p>
        </p:txBody>
      </p:sp>
      <p:sp>
        <p:nvSpPr>
          <p:cNvPr id="10" name="Text 8">
            <a:extLst xmlns:a="http://schemas.openxmlformats.org/drawingml/2006/main">
              <a:ext uri="{FF2B5EF4-FFF2-40B4-BE49-F238E27FC236}">
                <a16:creationId xmlns:a16="http://schemas.microsoft.com/office/drawing/2014/main" id="{C67D75AE-81FF-4012-9482-32350ECA65FD}"/>
              </a:ext>
            </a:extLst>
          </p:cNvPr>
          <p:cNvSpPr>
            <a:spLocks xmlns:a="http://schemas.openxmlformats.org/drawingml/2006/main" noGrp="1"/>
          </p:cNvSpPr>
          <p:nvPr/>
        </p:nvSpPr>
        <p:spPr>
          <a:xfrm xmlns:a="http://schemas.openxmlformats.org/drawingml/2006/main">
            <a:off x="6492240" y="2368296"/>
            <a:ext cx="48920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Rescued survivors shift toward the MASKED reverse-velocity bound: dual-survivor vx&lt;−1 crossings rise 387 → 503; mean min-vx −0.788 → −0.975.</a:t>
            </a:r>
          </a:p>
        </p:txBody>
      </p:sp>
      <p:sp>
        <p:nvSpPr>
          <p:cNvPr id="11" name="Shape 9">
            <a:extLst xmlns:a="http://schemas.openxmlformats.org/drawingml/2006/main">
              <a:ext uri="{FF2B5EF4-FFF2-40B4-BE49-F238E27FC236}">
                <a16:creationId xmlns:a16="http://schemas.microsoft.com/office/drawing/2014/main" id="{DCAAD016-9F94-4206-91D2-592FDE53AD5C}"/>
              </a:ext>
            </a:extLst>
          </p:cNvPr>
          <p:cNvSpPr>
            <a:spLocks xmlns:a="http://schemas.openxmlformats.org/drawingml/2006/main" noGrp="1"/>
          </p:cNvSpPr>
          <p:nvPr/>
        </p:nvSpPr>
        <p:spPr>
          <a:xfrm xmlns:a="http://schemas.openxmlformats.org/drawingml/2006/main">
            <a:off x="502920" y="393192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p:spPr>
      </p:sp>
      <p:sp>
        <p:nvSpPr>
          <p:cNvPr id="12" name="Text 10">
            <a:extLst xmlns:a="http://schemas.openxmlformats.org/drawingml/2006/main">
              <a:ext uri="{FF2B5EF4-FFF2-40B4-BE49-F238E27FC236}">
                <a16:creationId xmlns:a16="http://schemas.microsoft.com/office/drawing/2014/main" id="{452B8F1D-BDB5-4261-BEB9-7066F5D30693}"/>
              </a:ext>
            </a:extLst>
          </p:cNvPr>
          <p:cNvSpPr>
            <a:spLocks xmlns:a="http://schemas.openxmlformats.org/drawingml/2006/main" noGrp="1"/>
          </p:cNvSpPr>
          <p:nvPr/>
        </p:nvSpPr>
        <p:spPr>
          <a:xfrm xmlns:a="http://schemas.openxmlformats.org/drawingml/2006/main">
            <a:off x="777240" y="411480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B91C1C"/>
                </a:solidFill>
                <a:latin typeface="Calibri"/>
                <a:ea typeface="Calibri"/>
                <a:cs typeface="Calibri"/>
              </a:rPr>
              <a:t>The tail it hid</a:t>
            </a:r>
          </a:p>
        </p:txBody>
      </p:sp>
      <p:sp>
        <p:nvSpPr>
          <p:cNvPr id="13" name="Text 11">
            <a:extLst xmlns:a="http://schemas.openxmlformats.org/drawingml/2006/main">
              <a:ext uri="{FF2B5EF4-FFF2-40B4-BE49-F238E27FC236}">
                <a16:creationId xmlns:a16="http://schemas.microsoft.com/office/drawing/2014/main" id="{9BE60D3E-9211-4F54-B2E0-E337621A3492}"/>
              </a:ext>
            </a:extLst>
          </p:cNvPr>
          <p:cNvSpPr>
            <a:spLocks xmlns:a="http://schemas.openxmlformats.org/drawingml/2006/main" noGrp="1"/>
          </p:cNvSpPr>
          <p:nvPr/>
        </p:nvSpPr>
        <p:spPr>
          <a:xfrm xmlns:a="http://schemas.openxmlformats.org/drawingml/2006/main">
            <a:off x="777240" y="4517136"/>
            <a:ext cx="48920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One rescued family exits the simulator at step 155 in a 200-step replay — x and θ both out, vx = −2.28.</a:t>
            </a:r>
          </a:p>
        </p:txBody>
      </p:sp>
      <p:sp>
        <p:nvSpPr>
          <p:cNvPr id="14" name="Shape 12">
            <a:extLst xmlns:a="http://schemas.openxmlformats.org/drawingml/2006/main">
              <a:ext uri="{FF2B5EF4-FFF2-40B4-BE49-F238E27FC236}">
                <a16:creationId xmlns:a16="http://schemas.microsoft.com/office/drawing/2014/main" id="{E3EF2CB8-E7E5-4AF9-8A57-924B70970F8F}"/>
              </a:ext>
            </a:extLst>
          </p:cNvPr>
          <p:cNvSpPr>
            <a:spLocks xmlns:a="http://schemas.openxmlformats.org/drawingml/2006/main" noGrp="1"/>
          </p:cNvSpPr>
          <p:nvPr/>
        </p:nvSpPr>
        <p:spPr>
          <a:xfrm xmlns:a="http://schemas.openxmlformats.org/drawingml/2006/main">
            <a:off x="6217920" y="393192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p:spPr>
      </p:sp>
      <p:sp>
        <p:nvSpPr>
          <p:cNvPr id="15" name="Text 13">
            <a:extLst xmlns:a="http://schemas.openxmlformats.org/drawingml/2006/main">
              <a:ext uri="{FF2B5EF4-FFF2-40B4-BE49-F238E27FC236}">
                <a16:creationId xmlns:a16="http://schemas.microsoft.com/office/drawing/2014/main" id="{730C69F4-ED86-4D95-B3A8-43CCCC22818F}"/>
              </a:ext>
            </a:extLst>
          </p:cNvPr>
          <p:cNvSpPr>
            <a:spLocks xmlns:a="http://schemas.openxmlformats.org/drawingml/2006/main" noGrp="1"/>
          </p:cNvSpPr>
          <p:nvPr/>
        </p:nvSpPr>
        <p:spPr>
          <a:xfrm xmlns:a="http://schemas.openxmlformats.org/drawingml/2006/main">
            <a:off x="6492240" y="4114800"/>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C6E91"/>
                </a:solidFill>
                <a:latin typeface="Calibri"/>
                <a:ea typeface="Calibri"/>
                <a:cs typeface="Calibri"/>
              </a:rPr>
              <a:t>Status in this paper</a:t>
            </a:r>
          </a:p>
        </p:txBody>
      </p:sp>
      <p:sp>
        <p:nvSpPr>
          <p:cNvPr id="16" name="Text 14">
            <a:extLst xmlns:a="http://schemas.openxmlformats.org/drawingml/2006/main">
              <a:ext uri="{FF2B5EF4-FFF2-40B4-BE49-F238E27FC236}">
                <a16:creationId xmlns:a16="http://schemas.microsoft.com/office/drawing/2014/main" id="{87D2C250-4C73-4DB4-82F4-2F2681088BDE}"/>
              </a:ext>
            </a:extLst>
          </p:cNvPr>
          <p:cNvSpPr>
            <a:spLocks xmlns:a="http://schemas.openxmlformats.org/drawingml/2006/main" noGrp="1"/>
          </p:cNvSpPr>
          <p:nvPr/>
        </p:nvSpPr>
        <p:spPr>
          <a:xfrm xmlns:a="http://schemas.openxmlformats.org/drawingml/2006/main">
            <a:off x="6492240" y="4517136"/>
            <a:ext cx="489204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An endpoint- and horizon-bounded mitigation — not a repair. Retired as the default once the horizon study produced better options.</a:t>
            </a:r>
          </a:p>
        </p:txBody>
      </p:sp>
      <p:sp>
        <p:nvSpPr>
          <p:cNvPr id="17" name="Text 15">
            <a:extLst xmlns:a="http://schemas.openxmlformats.org/drawingml/2006/main">
              <a:ext uri="{FF2B5EF4-FFF2-40B4-BE49-F238E27FC236}">
                <a16:creationId xmlns:a16="http://schemas.microsoft.com/office/drawing/2014/main" id="{16C379EF-4D01-44BE-8DA9-A57695C7278D}"/>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Extended audit 2026-07-22 · simulator OOB predicate terminates on x/z/θ only; velocities masked at the endpoint</a:t>
            </a:r>
          </a:p>
        </p:txBody>
      </p:sp>
      <p:sp>
        <p:nvSpPr>
          <p:cNvPr id="18" name="Text 16">
            <a:extLst xmlns:a="http://schemas.openxmlformats.org/drawingml/2006/main">
              <a:ext uri="{FF2B5EF4-FFF2-40B4-BE49-F238E27FC236}">
                <a16:creationId xmlns:a16="http://schemas.microsoft.com/office/drawing/2014/main" id="{6775D0D1-40D3-429D-98D6-ABAD9B878FCA}"/>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6</a:t>
            </a:r>
          </a:p>
        </p:txBody>
      </p:sp>
    </p:spTree>
    <p:extLst>
      <p:ext uri="{BB962C8B-B14F-4D97-AF65-F5344CB8AC3E}">
        <p14:creationId xmlns:p14="http://schemas.microsoft.com/office/powerpoint/2010/main" val="214059737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B11090-26BD-4056-8806-7AB1F7C467A9}"/>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Watch it happen: same seed, one more prediction step</a:t>
            </a:r>
          </a:p>
        </p:txBody>
      </p:sp>
      <p:sp>
        <p:nvSpPr>
          <p:cNvPr id="3" name="Text 1">
            <a:extLst xmlns:a="http://schemas.openxmlformats.org/drawingml/2006/main">
              <a:ext uri="{FF2B5EF4-FFF2-40B4-BE49-F238E27FC236}">
                <a16:creationId xmlns:a16="http://schemas.microsoft.com/office/drawing/2014/main" id="{A8126E49-D4C6-4263-967E-DD6DFA135DB6}"/>
              </a:ext>
            </a:extLst>
          </p:cNvPr>
          <p:cNvSpPr>
            <a:spLocks xmlns:a="http://schemas.openxmlformats.org/drawingml/2006/main" noGrp="1"/>
          </p:cNvSpPr>
          <p:nvPr/>
        </p:nvSpPr>
        <p:spPr>
          <a:xfrm xmlns:a="http://schemas.openxmlformats.org/drawingml/2006/main">
            <a:off x="83667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sp>
        <p:nvSpPr>
          <p:cNvPr id="4" name="Text 2">
            <a:extLst xmlns:a="http://schemas.openxmlformats.org/drawingml/2006/main">
              <a:ext uri="{FF2B5EF4-FFF2-40B4-BE49-F238E27FC236}">
                <a16:creationId xmlns:a16="http://schemas.microsoft.com/office/drawing/2014/main" id="{C108DC8E-C2D8-4089-92A7-949155B44452}"/>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a:solidFill>
              <a:srgbClr val="D97706"/>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EXPLORATORY n=200</a:t>
            </a:r>
          </a:p>
        </p:txBody>
      </p:sp>
      <p:pic>
        <p:nvPicPr>
          <p:cNvPr id="13" name="Media 0"/>
          <p:cNvPicPr>
            <a:picLocks xmlns:a="http://schemas.openxmlformats.org/drawingml/2006/main" noChangeAspect="1"/>
          </p:cNvPicPr>
          <p:nvPr/>
        </p:nvPicPr>
        <p:blipFill>
          <a:blip xmlns:r="http://schemas.openxmlformats.org/officeDocument/2006/relationships" xmlns:a="http://schemas.openxmlformats.org/drawingml/2006/main" r:embed="Ra7b8b2859d2c40ce"/>
          <a:stretch xmlns:a="http://schemas.openxmlformats.org/drawingml/2006/main">
            <a:fillRect l="0" t="0" r="0" b="0"/>
          </a:stretch>
        </p:blipFill>
        <p:spPr>
          <a:xfrm xmlns:a="http://schemas.openxmlformats.org/drawingml/2006/main">
            <a:off x="502920" y="1554480"/>
            <a:ext cx="813816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551FB7FD-7A9D-4367-AD83-C9A4B3F38373}"/>
              </a:ext>
            </a:extLst>
          </p:cNvPr>
          <p:cNvSpPr>
            <a:spLocks xmlns:a="http://schemas.openxmlformats.org/drawingml/2006/main" noGrp="1"/>
          </p:cNvSpPr>
          <p:nvPr/>
        </p:nvSpPr>
        <p:spPr>
          <a:xfrm xmlns:a="http://schemas.openxmlformats.org/drawingml/2006/main">
            <a:off x="8869680" y="1645920"/>
            <a:ext cx="2880360"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900"/>
              </a:spcAft>
              <a:buSzPct val="100000"/>
              <a:buChar char="•"/>
            </a:pPr>
            <a:r>
              <a:rPr sz="1250" b="1">
                <a:solidFill>
                  <a:srgbClr val="1C2833"/>
                </a:solidFill>
                <a:latin typeface="Calibri"/>
                <a:ea typeface="Calibri"/>
                <a:cs typeface="Calibri"/>
              </a:rPr>
              <a:t>Left &amp; right: the SAME seed (61004), same delay schedule - N=3 vs N=4.</a:t>
            </a:r>
          </a:p>
          <a:p xmlns:a="http://schemas.openxmlformats.org/drawingml/2006/main">
            <a:pPr marL="152400" indent="-152400">
              <a:spcAft>
                <a:spcPts val="900"/>
              </a:spcAft>
              <a:buSzPct val="100000"/>
              <a:buChar char="•"/>
            </a:pPr>
            <a:r>
              <a:rPr sz="1250">
                <a:solidFill>
                  <a:srgbClr val="1C2833"/>
                </a:solidFill>
                <a:latin typeface="Calibri"/>
                <a:ea typeface="Calibri"/>
                <a:cs typeface="Calibri"/>
              </a:rPr>
              <a:t>Middle: a different exploratory seed for the decoupled deep-scorer configuration.</a:t>
            </a:r>
          </a:p>
          <a:p xmlns:a="http://schemas.openxmlformats.org/drawingml/2006/main">
            <a:pPr marL="152400" indent="-152400">
              <a:spcAft>
                <a:spcPts val="900"/>
              </a:spcAft>
              <a:buSzPct val="100000"/>
              <a:buChar char="•"/>
            </a:pPr>
            <a:r>
              <a:rPr sz="1250">
                <a:solidFill>
                  <a:srgbClr val="1C2833"/>
                </a:solidFill>
                <a:latin typeface="Calibri"/>
                <a:ea typeface="Calibri"/>
                <a:cs typeface="Calibri"/>
              </a:rPr>
              <a:t>Poster badges summarize logged selections: left &amp; middle lock onto gentle_down; N=4 keeps changing winners.</a:t>
            </a:r>
          </a:p>
          <a:p xmlns:a="http://schemas.openxmlformats.org/drawingml/2006/main">
            <a:pPr marL="152400" indent="-152400">
              <a:spcAft>
                <a:spcPts val="900"/>
              </a:spcAft>
              <a:buSzPct val="100000"/>
              <a:buChar char="•"/>
            </a:pPr>
            <a:r>
              <a:rPr sz="1250">
                <a:solidFill>
                  <a:srgbClr val="1C2833"/>
                </a:solidFill>
                <a:latin typeface="Calibri"/>
                <a:ea typeface="Calibri"/>
                <a:cs typeface="Calibri"/>
              </a:rPr>
              <a:t>Both locked cases cross at step 79; the N=4 vehicle survives through step 99.</a:t>
            </a:r>
          </a:p>
          <a:p xmlns:a="http://schemas.openxmlformats.org/drawingml/2006/main">
            <a:pPr marL="152400" indent="-152400">
              <a:spcAft>
                <a:spcPts val="900"/>
              </a:spcAft>
              <a:buSzPct val="100000"/>
              <a:buChar char="•"/>
            </a:pPr>
            <a:r>
              <a:rPr sz="1250">
                <a:solidFill>
                  <a:srgbClr val="1C2833"/>
                </a:solidFill>
                <a:latin typeface="Calibri"/>
                <a:ea typeface="Calibri"/>
                <a:cs typeface="Calibri"/>
              </a:rPr>
              <a:t>Static poster assembled from retained logged rows.</a:t>
            </a:r>
          </a:p>
        </p:txBody>
      </p:sp>
      <p:sp>
        <p:nvSpPr>
          <p:cNvPr id="7" name="Text 4">
            <a:extLst xmlns:a="http://schemas.openxmlformats.org/drawingml/2006/main">
              <a:ext uri="{FF2B5EF4-FFF2-40B4-BE49-F238E27FC236}">
                <a16:creationId xmlns:a16="http://schemas.microsoft.com/office/drawing/2014/main" id="{5D3D07B3-427B-4711-8574-75D2F47C0C62}"/>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Static poster from retained full-step CSVs - outer panels share seed 61004</a:t>
            </a:r>
          </a:p>
        </p:txBody>
      </p:sp>
      <p:sp>
        <p:nvSpPr>
          <p:cNvPr id="8" name="Text 5">
            <a:extLst xmlns:a="http://schemas.openxmlformats.org/drawingml/2006/main">
              <a:ext uri="{FF2B5EF4-FFF2-40B4-BE49-F238E27FC236}">
                <a16:creationId xmlns:a16="http://schemas.microsoft.com/office/drawing/2014/main" id="{F8A78F64-0D82-446F-B032-3EE8AADE3E13}"/>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7</a:t>
            </a:r>
          </a:p>
        </p:txBody>
      </p:sp>
    </p:spTree>
    <p:extLst>
      <p:ext uri="{BB962C8B-B14F-4D97-AF65-F5344CB8AC3E}">
        <p14:creationId xmlns:p14="http://schemas.microsoft.com/office/powerpoint/2010/main" val="20990320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2AEF3E-005C-43ED-BE02-D76C4DC11464}"/>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So give it more foresight? The dose-response says no</a:t>
            </a:r>
          </a:p>
        </p:txBody>
      </p:sp>
      <p:sp>
        <p:nvSpPr>
          <p:cNvPr id="3" name="Text 1">
            <a:extLst xmlns:a="http://schemas.openxmlformats.org/drawingml/2006/main">
              <a:ext uri="{FF2B5EF4-FFF2-40B4-BE49-F238E27FC236}">
                <a16:creationId xmlns:a16="http://schemas.microsoft.com/office/drawing/2014/main" id="{36C73D14-2C22-4311-B22E-617732586674}"/>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Every measured integer N=3..10 is shown — no interpolation or connecting line</a:t>
            </a:r>
          </a:p>
        </p:txBody>
      </p:sp>
      <p:sp>
        <p:nvSpPr>
          <p:cNvPr id="4" name="Text 2">
            <a:extLst xmlns:a="http://schemas.openxmlformats.org/drawingml/2006/main">
              <a:ext uri="{FF2B5EF4-FFF2-40B4-BE49-F238E27FC236}">
                <a16:creationId xmlns:a16="http://schemas.microsoft.com/office/drawing/2014/main" id="{83092D95-5C4A-4580-A0CF-B5DD92C5371D}"/>
              </a:ext>
            </a:extLst>
          </p:cNvPr>
          <p:cNvSpPr>
            <a:spLocks xmlns:a="http://schemas.openxmlformats.org/drawingml/2006/main" noGrp="1"/>
          </p:cNvSpPr>
          <p:nvPr/>
        </p:nvSpPr>
        <p:spPr>
          <a:xfrm xmlns:a="http://schemas.openxmlformats.org/drawingml/2006/main">
            <a:off x="6766560" y="201168"/>
            <a:ext cx="1572768"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B7280"/>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6B7280"/>
                </a:solidFill>
                <a:latin typeface="Calibri"/>
                <a:ea typeface="Calibri"/>
                <a:cs typeface="Calibri"/>
              </a:rPr>
              <a:t>PILOT n=200</a:t>
            </a:r>
          </a:p>
        </p:txBody>
      </p:sp>
      <p:sp>
        <p:nvSpPr>
          <p:cNvPr id="5" name="Text 3">
            <a:extLst xmlns:a="http://schemas.openxmlformats.org/drawingml/2006/main">
              <a:ext uri="{FF2B5EF4-FFF2-40B4-BE49-F238E27FC236}">
                <a16:creationId xmlns:a16="http://schemas.microsoft.com/office/drawing/2014/main" id="{CA237260-A55D-4ACD-9A4E-54AFFA4029AC}"/>
              </a:ext>
            </a:extLst>
          </p:cNvPr>
          <p:cNvSpPr>
            <a:spLocks xmlns:a="http://schemas.openxmlformats.org/drawingml/2006/main" noGrp="1"/>
          </p:cNvSpPr>
          <p:nvPr/>
        </p:nvSpPr>
        <p:spPr>
          <a:xfrm xmlns:a="http://schemas.openxmlformats.org/drawingml/2006/main">
            <a:off x="83667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sp>
        <p:nvSpPr>
          <p:cNvPr id="6" name="Text 4">
            <a:extLst xmlns:a="http://schemas.openxmlformats.org/drawingml/2006/main">
              <a:ext uri="{FF2B5EF4-FFF2-40B4-BE49-F238E27FC236}">
                <a16:creationId xmlns:a16="http://schemas.microsoft.com/office/drawing/2014/main" id="{3BBDE748-67CC-4863-8B09-DB2DA47D6319}"/>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a:solidFill>
              <a:srgbClr val="D97706"/>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EXPLORATORY n=1000</a:t>
            </a:r>
          </a:p>
        </p:txBody>
      </p:sp>
      <p:sp>
        <p:nvSpPr>
          <p:cNvPr id="8" name="Text 5">
            <a:extLst xmlns:a="http://schemas.openxmlformats.org/drawingml/2006/main">
              <a:ext uri="{FF2B5EF4-FFF2-40B4-BE49-F238E27FC236}">
                <a16:creationId xmlns:a16="http://schemas.microsoft.com/office/drawing/2014/main" id="{7846785E-DC27-4934-A993-F3ADFFD042F9}"/>
              </a:ext>
            </a:extLst>
          </p:cNvPr>
          <p:cNvSpPr>
            <a:spLocks xmlns:a="http://schemas.openxmlformats.org/drawingml/2006/main" noGrp="1"/>
          </p:cNvSpPr>
          <p:nvPr/>
        </p:nvSpPr>
        <p:spPr>
          <a:xfrm xmlns:a="http://schemas.openxmlformats.org/drawingml/2006/main">
            <a:off x="8686800" y="2057400"/>
            <a:ext cx="301752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sz="1050">
                <a:solidFill>
                  <a:srgbClr val="1F2937"/>
                </a:solidFill>
              </a:defRPr>
            </a:pPr>
            <a:r>
              <a:rPr sz="1050" b="1">
                <a:solidFill>
                  <a:srgbClr val="1F2937"/>
                </a:solidFill>
                <a:latin typeface="Calibri"/>
                <a:ea typeface="Calibri"/>
                <a:cs typeface="Calibri"/>
              </a:rPr>
              <a:t>N=3 175/1000 registered; N=4 0/1000 registered</a:t>
            </a:r>
          </a:p>
          <a:p xmlns:a="http://schemas.openxmlformats.org/drawingml/2006/main">
            <a:pPr marL="0" indent="0">
              <a:spcAft>
                <a:spcPts val="1400"/>
              </a:spcAft>
              <a:buNone/>
              <a:defRPr sz="1050">
                <a:solidFill>
                  <a:srgbClr val="1F2937"/>
                </a:solidFill>
              </a:defRPr>
            </a:pPr>
            <a:r>
              <a:rPr sz="1050">
                <a:solidFill>
                  <a:srgbClr val="1F2937"/>
                </a:solidFill>
                <a:latin typeface="Calibri"/>
                <a:ea typeface="Calibri"/>
                <a:cs typeface="Calibri"/>
              </a:rPr>
              <a:t>N=5 0/1000; N=6 454/1000; N=7 479/1000 exploratory</a:t>
            </a:r>
          </a:p>
          <a:p xmlns:a="http://schemas.openxmlformats.org/drawingml/2006/main">
            <a:pPr marL="0" indent="0">
              <a:buNone/>
              <a:defRPr sz="1050">
                <a:solidFill>
                  <a:srgbClr val="1F2937"/>
                </a:solidFill>
              </a:defRPr>
            </a:pPr>
            <a:r>
              <a:rPr sz="1050" b="1">
                <a:solidFill>
                  <a:srgbClr val="1F2937"/>
                </a:solidFill>
                <a:latin typeface="Calibri"/>
                <a:ea typeface="Calibri"/>
                <a:cs typeface="Calibri"/>
              </a:rPr>
              <a:t>N=8 821/1000; N=9 981/1000 exploratory</a:t>
            </a:r>
          </a:p>
          <a:p xmlns:a="http://schemas.openxmlformats.org/drawingml/2006/main">
            <a:pPr marL="0" indent="0">
              <a:spcAft>
                <a:spcPts val="1400"/>
              </a:spcAft>
              <a:buNone/>
              <a:defRPr sz="1050">
                <a:solidFill>
                  <a:srgbClr val="1F2937"/>
                </a:solidFill>
              </a:defRPr>
            </a:pPr>
            <a:r>
              <a:rPr sz="1050">
                <a:solidFill>
                  <a:srgbClr val="1F2937"/>
                </a:solidFill>
                <a:latin typeface="Calibri"/>
                <a:ea typeface="Calibri"/>
                <a:cs typeface="Calibri"/>
              </a:rPr>
              <a:t>N=10 200/200 pilot - every seed</a:t>
            </a:r>
          </a:p>
          <a:p xmlns:a="http://schemas.openxmlformats.org/drawingml/2006/main">
            <a:pPr marL="0" indent="0">
              <a:buNone/>
              <a:defRPr sz="1050">
                <a:solidFill>
                  <a:srgbClr val="1F2937"/>
                </a:solidFill>
              </a:defRPr>
            </a:pPr>
            <a:r>
              <a:rPr sz="1050" i="1">
                <a:solidFill>
                  <a:srgbClr val="1F2937"/>
                </a:solidFill>
                <a:latin typeface="Calibri"/>
                <a:ea typeface="Calibri"/>
                <a:cs typeface="Calibri"/>
              </a:rPr>
              <a:t>One registered step repairs the tail.</a:t>
            </a:r>
          </a:p>
          <a:p xmlns:a="http://schemas.openxmlformats.org/drawingml/2006/main">
            <a:pPr marL="0" indent="0">
              <a:buNone/>
              <a:defRPr sz="1050">
                <a:solidFill>
                  <a:srgbClr val="1F2937"/>
                </a:solidFill>
              </a:defRPr>
            </a:pPr>
            <a:r>
              <a:rPr sz="1050" i="1">
                <a:solidFill>
                  <a:srgbClr val="1F2937"/>
                </a:solidFill>
                <a:latin typeface="Calibri"/>
                <a:ea typeface="Calibri"/>
                <a:cs typeface="Calibri"/>
              </a:rPr>
              <a:t>Deeper horizons return the failure regime.</a:t>
            </a:r>
          </a:p>
        </p:txBody>
      </p:sp>
      <p:sp>
        <p:nvSpPr>
          <p:cNvPr id="9" name="Text 6">
            <a:extLst xmlns:a="http://schemas.openxmlformats.org/drawingml/2006/main">
              <a:ext uri="{FF2B5EF4-FFF2-40B4-BE49-F238E27FC236}">
                <a16:creationId xmlns:a16="http://schemas.microsoft.com/office/drawing/2014/main" id="{CF7464B1-DCBE-4C95-ACFA-C754C65A46FB}"/>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Advancement rule, hypotheses, and all interpretations frozen (SHA-256) before the pilot ran</a:t>
            </a:r>
          </a:p>
        </p:txBody>
      </p:sp>
      <p:sp>
        <p:nvSpPr>
          <p:cNvPr id="10" name="Text 7">
            <a:extLst xmlns:a="http://schemas.openxmlformats.org/drawingml/2006/main">
              <a:ext uri="{FF2B5EF4-FFF2-40B4-BE49-F238E27FC236}">
                <a16:creationId xmlns:a16="http://schemas.microsoft.com/office/drawing/2014/main" id="{284915FB-4177-45DE-B041-3750F434E9E9}"/>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8</a:t>
            </a:r>
          </a:p>
        </p:txBody>
      </p:sp>
      <p:graphicFrame>
        <p:nvGraphicFramePr>
          <p:cNvPr id="28" name="Chart"/>
          <p:cNvGraphicFramePr/>
          <p:nvPr/>
        </p:nvGraphicFramePr>
        <p:xfrm>
          <a:off xmlns:a="http://schemas.openxmlformats.org/drawingml/2006/main" x="502920" y="1737360"/>
          <a:ext xmlns:a="http://schemas.openxmlformats.org/drawingml/2006/main" cx="7863840" cy="4270248"/>
        </p:xfrm>
        <a:graphic xmlns:a="http://schemas.openxmlformats.org/drawingml/2006/main">
          <a:graphicData uri="http://schemas.openxmlformats.org/drawingml/2006/chart">
            <c:chart xmlns:r="http://schemas.openxmlformats.org/officeDocument/2006/relationships" xmlns:c="http://schemas.openxmlformats.org/drawingml/2006/chart" r:id="R11f16fee1b41412f"/>
          </a:graphicData>
        </a:graphic>
      </p:graphicFrame>
      <p:sp>
        <p:nvSpPr>
          <p:cNvPr id="12" name="">
            <a:extLst xmlns:a="http://schemas.openxmlformats.org/drawingml/2006/main">
              <a:ext uri="{FF2B5EF4-FFF2-40B4-BE49-F238E27FC236}">
                <a16:creationId xmlns:a16="http://schemas.microsoft.com/office/drawing/2014/main" id="{DFA89D7C-CEFD-4D74-BBFB-F57E8D1DA4D7}"/>
              </a:ext>
            </a:extLst>
          </p:cNvPr>
          <p:cNvSpPr>
            <a:spLocks xmlns:a="http://schemas.openxmlformats.org/drawingml/2006/main" noGrp="1"/>
          </p:cNvSpPr>
          <p:nvPr/>
        </p:nvSpPr>
        <p:spPr>
          <a:xfrm xmlns:a="http://schemas.openxmlformats.org/drawingml/2006/main">
            <a:off x="1581972" y="4789996"/>
            <a:ext cx="114300" cy="114300"/>
          </a:xfrm>
          <a:prstGeom xmlns:a="http://schemas.openxmlformats.org/drawingml/2006/main" prst="rect">
            <a:avLst/>
          </a:prstGeom>
          <a:solidFill xmlns:a="http://schemas.openxmlformats.org/drawingml/2006/main">
            <a:srgbClr val="2F7EA4"/>
          </a:solidFill>
          <a:ln xmlns:a="http://schemas.openxmlformats.org/drawingml/2006/main" w="9525">
            <a:solidFill>
              <a:srgbClr val="2F7EA4"/>
            </a:solidFill>
            <a:prstDash val="solid"/>
          </a:ln>
        </p:spPr>
      </p:sp>
      <p:sp>
        <p:nvSpPr>
          <p:cNvPr id="13" name="">
            <a:extLst xmlns:a="http://schemas.openxmlformats.org/drawingml/2006/main">
              <a:ext uri="{FF2B5EF4-FFF2-40B4-BE49-F238E27FC236}">
                <a16:creationId xmlns:a16="http://schemas.microsoft.com/office/drawing/2014/main" id="{0D16E222-8265-4EF0-8B93-A7F3804A0078}"/>
              </a:ext>
            </a:extLst>
          </p:cNvPr>
          <p:cNvSpPr>
            <a:spLocks xmlns:a="http://schemas.openxmlformats.org/drawingml/2006/main" noGrp="1"/>
          </p:cNvSpPr>
          <p:nvPr/>
        </p:nvSpPr>
        <p:spPr>
          <a:xfrm xmlns:a="http://schemas.openxmlformats.org/drawingml/2006/main">
            <a:off x="2447151" y="5384768"/>
            <a:ext cx="114300" cy="114300"/>
          </a:xfrm>
          <a:prstGeom xmlns:a="http://schemas.openxmlformats.org/drawingml/2006/main" prst="rect">
            <a:avLst/>
          </a:prstGeom>
          <a:solidFill xmlns:a="http://schemas.openxmlformats.org/drawingml/2006/main">
            <a:srgbClr val="2F7EA4"/>
          </a:solidFill>
          <a:ln xmlns:a="http://schemas.openxmlformats.org/drawingml/2006/main" w="9525">
            <a:solidFill>
              <a:srgbClr val="2F7EA4"/>
            </a:solidFill>
            <a:prstDash val="solid"/>
          </a:ln>
        </p:spPr>
      </p:sp>
      <p:sp>
        <p:nvSpPr>
          <p:cNvPr id="14" name="">
            <a:extLst xmlns:a="http://schemas.openxmlformats.org/drawingml/2006/main">
              <a:ext uri="{FF2B5EF4-FFF2-40B4-BE49-F238E27FC236}">
                <a16:creationId xmlns:a16="http://schemas.microsoft.com/office/drawing/2014/main" id="{9EA446DF-97BA-4D16-B289-38F775F70455}"/>
              </a:ext>
            </a:extLst>
          </p:cNvPr>
          <p:cNvSpPr>
            <a:spLocks xmlns:a="http://schemas.openxmlformats.org/drawingml/2006/main" noGrp="1"/>
          </p:cNvSpPr>
          <p:nvPr/>
        </p:nvSpPr>
        <p:spPr>
          <a:xfrm xmlns:a="http://schemas.openxmlformats.org/drawingml/2006/main">
            <a:off x="3312331" y="5384768"/>
            <a:ext cx="114300" cy="1143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15" name="">
            <a:extLst xmlns:a="http://schemas.openxmlformats.org/drawingml/2006/main">
              <a:ext uri="{FF2B5EF4-FFF2-40B4-BE49-F238E27FC236}">
                <a16:creationId xmlns:a16="http://schemas.microsoft.com/office/drawing/2014/main" id="{D13971F0-0DBD-4D10-9E2E-9CD3781F1D12}"/>
              </a:ext>
            </a:extLst>
          </p:cNvPr>
          <p:cNvSpPr>
            <a:spLocks xmlns:a="http://schemas.openxmlformats.org/drawingml/2006/main" noGrp="1"/>
          </p:cNvSpPr>
          <p:nvPr/>
        </p:nvSpPr>
        <p:spPr>
          <a:xfrm xmlns:a="http://schemas.openxmlformats.org/drawingml/2006/main">
            <a:off x="4177510" y="3841758"/>
            <a:ext cx="114300" cy="1143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16" name="">
            <a:extLst xmlns:a="http://schemas.openxmlformats.org/drawingml/2006/main">
              <a:ext uri="{FF2B5EF4-FFF2-40B4-BE49-F238E27FC236}">
                <a16:creationId xmlns:a16="http://schemas.microsoft.com/office/drawing/2014/main" id="{060C7A40-829D-45B3-990E-8FFE07CF5B6A}"/>
              </a:ext>
            </a:extLst>
          </p:cNvPr>
          <p:cNvSpPr>
            <a:spLocks xmlns:a="http://schemas.openxmlformats.org/drawingml/2006/main" noGrp="1"/>
          </p:cNvSpPr>
          <p:nvPr/>
        </p:nvSpPr>
        <p:spPr>
          <a:xfrm xmlns:a="http://schemas.openxmlformats.org/drawingml/2006/main">
            <a:off x="5042690" y="3756790"/>
            <a:ext cx="114300" cy="1143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6178AE99-12B5-428B-94B8-568F15791176}"/>
              </a:ext>
            </a:extLst>
          </p:cNvPr>
          <p:cNvSpPr>
            <a:spLocks xmlns:a="http://schemas.openxmlformats.org/drawingml/2006/main" noGrp="1"/>
          </p:cNvSpPr>
          <p:nvPr/>
        </p:nvSpPr>
        <p:spPr>
          <a:xfrm xmlns:a="http://schemas.openxmlformats.org/drawingml/2006/main">
            <a:off x="5907869" y="2594434"/>
            <a:ext cx="114300" cy="1143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BB85FE40-BA74-4721-8875-C672EF910AFA}"/>
              </a:ext>
            </a:extLst>
          </p:cNvPr>
          <p:cNvSpPr>
            <a:spLocks xmlns:a="http://schemas.openxmlformats.org/drawingml/2006/main" noGrp="1"/>
          </p:cNvSpPr>
          <p:nvPr/>
        </p:nvSpPr>
        <p:spPr>
          <a:xfrm xmlns:a="http://schemas.openxmlformats.org/drawingml/2006/main">
            <a:off x="6773049" y="2050642"/>
            <a:ext cx="114300" cy="1143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19" name="">
            <a:extLst xmlns:a="http://schemas.openxmlformats.org/drawingml/2006/main">
              <a:ext uri="{FF2B5EF4-FFF2-40B4-BE49-F238E27FC236}">
                <a16:creationId xmlns:a16="http://schemas.microsoft.com/office/drawing/2014/main" id="{B7D84C29-293D-409E-B275-893FA39F467D}"/>
              </a:ext>
            </a:extLst>
          </p:cNvPr>
          <p:cNvSpPr>
            <a:spLocks xmlns:a="http://schemas.openxmlformats.org/drawingml/2006/main" noGrp="1"/>
          </p:cNvSpPr>
          <p:nvPr/>
        </p:nvSpPr>
        <p:spPr>
          <a:xfrm xmlns:a="http://schemas.openxmlformats.org/drawingml/2006/main">
            <a:off x="7633466" y="1981304"/>
            <a:ext cx="123825" cy="123825"/>
          </a:xfrm>
          <a:prstGeom xmlns:a="http://schemas.openxmlformats.org/drawingml/2006/main" prst="diamond">
            <a:avLst/>
          </a:prstGeom>
          <a:solidFill xmlns:a="http://schemas.openxmlformats.org/drawingml/2006/main">
            <a:srgbClr val="64748B"/>
          </a:solidFill>
          <a:ln xmlns:a="http://schemas.openxmlformats.org/drawingml/2006/main" w="9525">
            <a:solidFill>
              <a:srgbClr val="64748B"/>
            </a:solidFill>
            <a:prstDash val="solid"/>
          </a:ln>
        </p:spPr>
      </p:sp>
    </p:spTree>
    <p:extLst>
      <p:ext uri="{BB962C8B-B14F-4D97-AF65-F5344CB8AC3E}">
        <p14:creationId xmlns:p14="http://schemas.microsoft.com/office/powerpoint/2010/main" val="213641292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56FA21-F7E3-4F8E-938A-DCA6B2A200F2}"/>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Why one step works: it breaks fixation</a:t>
            </a:r>
          </a:p>
        </p:txBody>
      </p:sp>
      <p:sp>
        <p:nvSpPr>
          <p:cNvPr id="3" name="Text 1">
            <a:extLst xmlns:a="http://schemas.openxmlformats.org/drawingml/2006/main">
              <a:ext uri="{FF2B5EF4-FFF2-40B4-BE49-F238E27FC236}">
                <a16:creationId xmlns:a16="http://schemas.microsoft.com/office/drawing/2014/main" id="{B8BC7E49-B69D-4B55-AC19-5533C2000C19}"/>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Zero-compute checks on logged payloads · pre-committed readings, then data</a:t>
            </a:r>
          </a:p>
        </p:txBody>
      </p:sp>
      <p:sp>
        <p:nvSpPr>
          <p:cNvPr id="4" name="Text 2">
            <a:extLst xmlns:a="http://schemas.openxmlformats.org/drawingml/2006/main">
              <a:ext uri="{FF2B5EF4-FFF2-40B4-BE49-F238E27FC236}">
                <a16:creationId xmlns:a16="http://schemas.microsoft.com/office/drawing/2014/main" id="{19ECB61A-517B-4F8C-ADE0-19325946E7AB}"/>
              </a:ext>
            </a:extLst>
          </p:cNvPr>
          <p:cNvSpPr>
            <a:spLocks xmlns:a="http://schemas.openxmlformats.org/drawingml/2006/main" noGrp="1"/>
          </p:cNvSpPr>
          <p:nvPr/>
        </p:nvSpPr>
        <p:spPr>
          <a:xfrm xmlns:a="http://schemas.openxmlformats.org/drawingml/2006/main">
            <a:off x="83667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sp>
        <p:nvSpPr>
          <p:cNvPr id="5" name="Text 3">
            <a:extLst xmlns:a="http://schemas.openxmlformats.org/drawingml/2006/main">
              <a:ext uri="{FF2B5EF4-FFF2-40B4-BE49-F238E27FC236}">
                <a16:creationId xmlns:a16="http://schemas.microsoft.com/office/drawing/2014/main" id="{41987E11-9FD6-400C-BC69-A34FB196C910}"/>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a:solidFill>
              <a:srgbClr val="D97706"/>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EXPLORATORY n=200/1000</a:t>
            </a:r>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55defa675c3543f0"/>
          <a:stretch xmlns:a="http://schemas.openxmlformats.org/drawingml/2006/main">
            <a:fillRect l="0" t="0" r="0" b="0"/>
          </a:stretch>
        </p:blipFill>
        <p:spPr>
          <a:xfrm xmlns:a="http://schemas.openxmlformats.org/drawingml/2006/main">
            <a:off x="502920" y="1737360"/>
            <a:ext cx="6537960" cy="4105656"/>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64328BF-82C5-45A4-8644-2B181A76F74A}"/>
              </a:ext>
            </a:extLst>
          </p:cNvPr>
          <p:cNvSpPr>
            <a:spLocks xmlns:a="http://schemas.openxmlformats.org/drawingml/2006/main" noGrp="1"/>
          </p:cNvSpPr>
          <p:nvPr/>
        </p:nvSpPr>
        <p:spPr>
          <a:xfrm xmlns:a="http://schemas.openxmlformats.org/drawingml/2006/main">
            <a:off x="7269480" y="1737360"/>
            <a:ext cx="4434840" cy="434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Trigger frequency did not explain the rescue: N=4 intervenes 6.6–7.9% less.</a:t>
            </a:r>
          </a:p>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The old ranking still appears in 49/63 payload pairs.</a:t>
            </a:r>
          </a:p>
          <a:p xmlns:a="http://schemas.openxmlformats.org/drawingml/2006/main">
            <a:pPr marL="152400" indent="-152400">
              <a:spcAft>
                <a:spcPts val="1000"/>
              </a:spcAft>
              <a:buSzPct val="100000"/>
              <a:buChar char="•"/>
            </a:pPr>
            <a:r>
              <a:rPr sz="1250" b="1">
                <a:solidFill>
                  <a:srgbClr val="1C2833"/>
                </a:solidFill>
                <a:latin typeface="Calibri"/>
                <a:ea typeface="Calibri"/>
                <a:cs typeface="Calibri"/>
              </a:rPr>
              <a:t>What changes is persistence: gentle_down wins 41%→25%, winner churn rises 4×, and no ≥27-step run forms.</a:t>
            </a:r>
          </a:p>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Rescoring all 175 fatal onset states: N=4 still picks gentle_down 56%. Rescued paths avoid those states. Dense extension: saturation rises 50.6% at N=5 to 98.7% at N=9.</a:t>
            </a:r>
          </a:p>
        </p:txBody>
      </p:sp>
      <p:sp>
        <p:nvSpPr>
          <p:cNvPr id="8" name="Text 5">
            <a:extLst xmlns:a="http://schemas.openxmlformats.org/drawingml/2006/main">
              <a:ext uri="{FF2B5EF4-FFF2-40B4-BE49-F238E27FC236}">
                <a16:creationId xmlns:a16="http://schemas.microsoft.com/office/drawing/2014/main" id="{5D3B5811-E738-4CDF-A4CA-02A8AC648EEB}"/>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chkA_report.md · chk3_fatal_state_rescoring.csv · m1_cell_summary.csv</a:t>
            </a:r>
          </a:p>
        </p:txBody>
      </p:sp>
      <p:sp>
        <p:nvSpPr>
          <p:cNvPr id="9" name="Text 6">
            <a:extLst xmlns:a="http://schemas.openxmlformats.org/drawingml/2006/main">
              <a:ext uri="{FF2B5EF4-FFF2-40B4-BE49-F238E27FC236}">
                <a16:creationId xmlns:a16="http://schemas.microsoft.com/office/drawing/2014/main" id="{4155CDC6-FD91-4706-9DC4-0F4EE0639450}"/>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9</a:t>
            </a:r>
          </a:p>
        </p:txBody>
      </p:sp>
    </p:spTree>
    <p:extLst>
      <p:ext uri="{BB962C8B-B14F-4D97-AF65-F5344CB8AC3E}">
        <p14:creationId xmlns:p14="http://schemas.microsoft.com/office/powerpoint/2010/main" val="181649583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914D5BE-5CB2-46C2-866C-8046288CEF7D}"/>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The same scoring defect appears at two scales</a:t>
            </a:r>
          </a:p>
        </p:txBody>
      </p:sp>
      <p:sp>
        <p:nvSpPr>
          <p:cNvPr id="3" name="Text 1">
            <a:extLst xmlns:a="http://schemas.openxmlformats.org/drawingml/2006/main">
              <a:ext uri="{FF2B5EF4-FFF2-40B4-BE49-F238E27FC236}">
                <a16:creationId xmlns:a16="http://schemas.microsoft.com/office/drawing/2014/main" id="{330DA8E1-2BD4-4A06-9084-7052398EA969}"/>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The score cannot discriminate where every candidate predicts violation — and that region grows with N</a:t>
            </a:r>
          </a:p>
        </p:txBody>
      </p:sp>
      <p:sp>
        <p:nvSpPr>
          <p:cNvPr id="4" name="Text 2">
            <a:extLst xmlns:a="http://schemas.openxmlformats.org/drawingml/2006/main">
              <a:ext uri="{FF2B5EF4-FFF2-40B4-BE49-F238E27FC236}">
                <a16:creationId xmlns:a16="http://schemas.microsoft.com/office/drawing/2014/main" id="{148B1DBA-6ABB-42A6-8769-C408909B7845}"/>
              </a:ext>
            </a:extLst>
          </p:cNvPr>
          <p:cNvSpPr>
            <a:spLocks xmlns:a="http://schemas.openxmlformats.org/drawingml/2006/main" noGrp="1"/>
          </p:cNvSpPr>
          <p:nvPr/>
        </p:nvSpPr>
        <p:spPr>
          <a:xfrm xmlns:a="http://schemas.openxmlformats.org/drawingml/2006/main">
            <a:off x="83667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sp>
        <p:nvSpPr>
          <p:cNvPr id="5" name="Text 3">
            <a:extLst xmlns:a="http://schemas.openxmlformats.org/drawingml/2006/main">
              <a:ext uri="{FF2B5EF4-FFF2-40B4-BE49-F238E27FC236}">
                <a16:creationId xmlns:a16="http://schemas.microsoft.com/office/drawing/2014/main" id="{D0FB6923-8BA0-4BB4-BBDE-9DA2C534CCAB}"/>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a:solidFill>
              <a:srgbClr val="D97706"/>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EXPLORATORY n=200</a:t>
            </a:r>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8481ee4e2bc94bbd"/>
          <a:stretch xmlns:a="http://schemas.openxmlformats.org/drawingml/2006/main">
            <a:fillRect l="0" t="0" r="0" b="0"/>
          </a:stretch>
        </p:blipFill>
        <p:spPr>
          <a:xfrm xmlns:a="http://schemas.openxmlformats.org/drawingml/2006/main">
            <a:off x="502920" y="1737360"/>
            <a:ext cx="6766560" cy="2889504"/>
          </a:xfrm>
          <a:prstGeom xmlns:a="http://schemas.openxmlformats.org/drawingml/2006/main" prst="rect">
            <a:avLst/>
          </a:prstGeom>
        </p:spPr>
      </p:pic>
      <p:pic>
        <p:nvPicPr>
          <p:cNvPr id="19" name="Image 1"/>
          <p:cNvPicPr>
            <a:picLocks xmlns:a="http://schemas.openxmlformats.org/drawingml/2006/main" noChangeAspect="1"/>
          </p:cNvPicPr>
          <p:nvPr/>
        </p:nvPicPr>
        <p:blipFill>
          <a:blip xmlns:r="http://schemas.openxmlformats.org/officeDocument/2006/relationships" xmlns:a="http://schemas.openxmlformats.org/drawingml/2006/main" r:embed="R6352fedf226f4e6c"/>
          <a:stretch xmlns:a="http://schemas.openxmlformats.org/drawingml/2006/main">
            <a:fillRect l="0" t="0" r="0" b="0"/>
          </a:stretch>
        </p:blipFill>
        <p:spPr>
          <a:xfrm xmlns:a="http://schemas.openxmlformats.org/drawingml/2006/main">
            <a:off x="502920" y="4526280"/>
            <a:ext cx="3630168" cy="1828800"/>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5D958A44-BEE8-4F1D-AE0F-AE2F791CF1EC}"/>
              </a:ext>
            </a:extLst>
          </p:cNvPr>
          <p:cNvSpPr>
            <a:spLocks xmlns:a="http://schemas.openxmlformats.org/drawingml/2006/main" noGrp="1"/>
          </p:cNvSpPr>
          <p:nvPr/>
        </p:nvSpPr>
        <p:spPr>
          <a:xfrm xmlns:a="http://schemas.openxmlformats.org/drawingml/2006/main">
            <a:off x="7452360" y="1737360"/>
            <a:ext cx="4251960" cy="4206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At (3,10), 98.8% of intervention steps are saturated: no candidate is predicted safe. Median feasible support = 0; margins are compressed 40×.</a:t>
            </a:r>
          </a:p>
          <a:p xmlns:a="http://schemas.openxmlformats.org/drawingml/2006/main">
            <a:pPr marL="152400" indent="-152400">
              <a:spcAft>
                <a:spcPts val="1000"/>
              </a:spcAft>
              <a:buSzPct val="100000"/>
              <a:buChar char="•"/>
            </a:pPr>
            <a:r>
              <a:rPr sz="1250" b="1">
                <a:solidFill>
                  <a:srgbClr val="1C2833"/>
                </a:solidFill>
                <a:latin typeface="Calibri"/>
                <a:ea typeface="Calibri"/>
                <a:cs typeface="Calibri"/>
              </a:rPr>
              <a:t>Fatal-onset check: all 98 persistent states have feasible support 0.</a:t>
            </a:r>
          </a:p>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Shallow regime: the saturated region is a boundary shell. Deep regime: it expands across the envelope.</a:t>
            </a:r>
          </a:p>
        </p:txBody>
      </p:sp>
      <p:sp>
        <p:nvSpPr>
          <p:cNvPr id="9" name="Text 5">
            <a:extLst xmlns:a="http://schemas.openxmlformats.org/drawingml/2006/main">
              <a:ext uri="{FF2B5EF4-FFF2-40B4-BE49-F238E27FC236}">
                <a16:creationId xmlns:a16="http://schemas.microsoft.com/office/drawing/2014/main" id="{59BE2B6C-147E-4876-8B89-5BD0C82B7B10}"/>
              </a:ext>
            </a:extLst>
          </p:cNvPr>
          <p:cNvSpPr>
            <a:spLocks xmlns:a="http://schemas.openxmlformats.org/drawingml/2006/main" noGrp="1"/>
          </p:cNvSpPr>
          <p:nvPr/>
        </p:nvSpPr>
        <p:spPr>
          <a:xfrm xmlns:a="http://schemas.openxmlformats.org/drawingml/2006/main">
            <a:off x="4343400" y="5074920"/>
            <a:ext cx="2926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B7280"/>
                </a:solidFill>
                <a:latin typeface="Calibri"/>
                <a:ea typeface="Calibri"/>
                <a:cs typeface="Calibri"/>
              </a:rPr>
              <a:t>Left: schematic (labeled). Below: measured saturation fractions (F5).</a:t>
            </a:r>
          </a:p>
        </p:txBody>
      </p:sp>
      <p:sp>
        <p:nvSpPr>
          <p:cNvPr id="10" name="Text 6">
            <a:extLst xmlns:a="http://schemas.openxmlformats.org/drawingml/2006/main">
              <a:ext uri="{FF2B5EF4-FFF2-40B4-BE49-F238E27FC236}">
                <a16:creationId xmlns:a16="http://schemas.microsoft.com/office/drawing/2014/main" id="{3860EDAB-575B-4B6E-B002-01FDD991600C}"/>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m1_cell_summary.csv · m3_fatal_state_metrics.csv · schematic is illustrative; quantities cited from data</a:t>
            </a:r>
          </a:p>
        </p:txBody>
      </p:sp>
      <p:sp>
        <p:nvSpPr>
          <p:cNvPr id="11" name="Text 7">
            <a:extLst xmlns:a="http://schemas.openxmlformats.org/drawingml/2006/main">
              <a:ext uri="{FF2B5EF4-FFF2-40B4-BE49-F238E27FC236}">
                <a16:creationId xmlns:a16="http://schemas.microsoft.com/office/drawing/2014/main" id="{5172A62F-0AD7-41AF-9D3F-C79B68B38733}"/>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10</a:t>
            </a:r>
          </a:p>
        </p:txBody>
      </p:sp>
    </p:spTree>
    <p:extLst>
      <p:ext uri="{BB962C8B-B14F-4D97-AF65-F5344CB8AC3E}">
        <p14:creationId xmlns:p14="http://schemas.microsoft.com/office/powerpoint/2010/main" val="20476013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169D94-7C21-4F05-A807-4CBCC0E1193B}"/>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The proposed trigger/scorer split fails too</a:t>
            </a:r>
          </a:p>
        </p:txBody>
      </p:sp>
      <p:sp>
        <p:nvSpPr>
          <p:cNvPr id="3" name="Text 1">
            <a:extLst xmlns:a="http://schemas.openxmlformats.org/drawingml/2006/main">
              <a:ext uri="{FF2B5EF4-FFF2-40B4-BE49-F238E27FC236}">
                <a16:creationId xmlns:a16="http://schemas.microsoft.com/office/drawing/2014/main" id="{743F5729-1229-4654-ABD0-66CB2DC493DB}"/>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N_trig split from N_score · bit-identical diagonal regression gates · pre-committed readings for all four outcomes</a:t>
            </a:r>
          </a:p>
        </p:txBody>
      </p:sp>
      <p:sp>
        <p:nvSpPr>
          <p:cNvPr id="4" name="Text 2">
            <a:extLst xmlns:a="http://schemas.openxmlformats.org/drawingml/2006/main">
              <a:ext uri="{FF2B5EF4-FFF2-40B4-BE49-F238E27FC236}">
                <a16:creationId xmlns:a16="http://schemas.microsoft.com/office/drawing/2014/main" id="{51D02FC4-9490-4524-A98C-CD4893A03BC7}"/>
              </a:ext>
            </a:extLst>
          </p:cNvPr>
          <p:cNvSpPr>
            <a:spLocks xmlns:a="http://schemas.openxmlformats.org/drawingml/2006/main" noGrp="1"/>
          </p:cNvSpPr>
          <p:nvPr/>
        </p:nvSpPr>
        <p:spPr>
          <a:xfrm xmlns:a="http://schemas.openxmlformats.org/drawingml/2006/main">
            <a:off x="6766560" y="201168"/>
            <a:ext cx="1572768"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B7280"/>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6B7280"/>
                </a:solidFill>
                <a:latin typeface="Calibri"/>
                <a:ea typeface="Calibri"/>
                <a:cs typeface="Calibri"/>
              </a:rPr>
              <a:t>PILOT n=200</a:t>
            </a:r>
          </a:p>
        </p:txBody>
      </p:sp>
      <p:sp>
        <p:nvSpPr>
          <p:cNvPr id="5" name="Text 3">
            <a:extLst xmlns:a="http://schemas.openxmlformats.org/drawingml/2006/main">
              <a:ext uri="{FF2B5EF4-FFF2-40B4-BE49-F238E27FC236}">
                <a16:creationId xmlns:a16="http://schemas.microsoft.com/office/drawing/2014/main" id="{86421B0F-A5EA-4F12-A05A-E17492C04FD9}"/>
              </a:ext>
            </a:extLst>
          </p:cNvPr>
          <p:cNvSpPr>
            <a:spLocks xmlns:a="http://schemas.openxmlformats.org/drawingml/2006/main" noGrp="1"/>
          </p:cNvSpPr>
          <p:nvPr/>
        </p:nvSpPr>
        <p:spPr>
          <a:xfrm xmlns:a="http://schemas.openxmlformats.org/drawingml/2006/main">
            <a:off x="83667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sp>
        <p:nvSpPr>
          <p:cNvPr id="6" name="Text 4">
            <a:extLst xmlns:a="http://schemas.openxmlformats.org/drawingml/2006/main">
              <a:ext uri="{FF2B5EF4-FFF2-40B4-BE49-F238E27FC236}">
                <a16:creationId xmlns:a16="http://schemas.microsoft.com/office/drawing/2014/main" id="{6E70E5C2-E492-49D4-8AE3-3318478EF607}"/>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a:solidFill>
              <a:srgbClr val="D97706"/>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EXPLORATORY n=200</a:t>
            </a:r>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971248a699284411"/>
          <a:stretch xmlns:a="http://schemas.openxmlformats.org/drawingml/2006/main">
            <a:fillRect l="0" t="0" r="0" b="0"/>
          </a:stretch>
        </p:blipFill>
        <p:spPr>
          <a:xfrm xmlns:a="http://schemas.openxmlformats.org/drawingml/2006/main">
            <a:off x="502920" y="1737360"/>
            <a:ext cx="6035040" cy="4133088"/>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48C1FF6A-BE06-4B82-8166-9A3AED0B0DB2}"/>
              </a:ext>
            </a:extLst>
          </p:cNvPr>
          <p:cNvSpPr>
            <a:spLocks xmlns:a="http://schemas.openxmlformats.org/drawingml/2006/main" noGrp="1"/>
          </p:cNvSpPr>
          <p:nvPr/>
        </p:nvSpPr>
        <p:spPr>
          <a:xfrm xmlns:a="http://schemas.openxmlformats.org/drawingml/2006/main">
            <a:off x="6766560" y="1737360"/>
            <a:ext cx="4937760" cy="434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000"/>
              </a:spcAft>
              <a:buSzPct val="100000"/>
              <a:buChar char="•"/>
            </a:pPr>
            <a:r>
              <a:rPr sz="1250" b="1">
                <a:solidFill>
                  <a:srgbClr val="1C2833"/>
                </a:solidFill>
                <a:latin typeface="Calibri"/>
                <a:ea typeface="Calibri"/>
                <a:cs typeface="Calibri"/>
              </a:rPr>
              <a:t>(3,10), baseline trigger + deep scorer: 199/200.</a:t>
            </a:r>
          </a:p>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(10,3), deep trigger + shallow scorer: 113/200.</a:t>
            </a:r>
          </a:p>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(10,10): 200/200.</a:t>
            </a:r>
          </a:p>
          <a:p xmlns:a="http://schemas.openxmlformats.org/drawingml/2006/main">
            <a:pPr marL="152400" indent="-152400">
              <a:spcAft>
                <a:spcPts val="1000"/>
              </a:spcAft>
              <a:buSzPct val="100000"/>
              <a:buChar char="•"/>
            </a:pPr>
            <a:r>
              <a:rPr sz="1250">
                <a:solidFill>
                  <a:srgbClr val="1C2833"/>
                </a:solidFill>
                <a:latin typeface="Calibri"/>
                <a:ea typeface="Calibri"/>
                <a:cs typeface="Calibri"/>
              </a:rPr>
              <a:t>The (3,10) cell shares 8 exact signatures with (10,10), covering ~74% of basin mass on each side. The deep scorer reproduces most of the collapse even when the trigger is shallow.</a:t>
            </a:r>
          </a:p>
        </p:txBody>
      </p:sp>
      <p:sp>
        <p:nvSpPr>
          <p:cNvPr id="9" name="Text 6">
            <a:extLst xmlns:a="http://schemas.openxmlformats.org/drawingml/2006/main">
              <a:ext uri="{FF2B5EF4-FFF2-40B4-BE49-F238E27FC236}">
                <a16:creationId xmlns:a16="http://schemas.microsoft.com/office/drawing/2014/main" id="{73E01BB3-B5F6-4321-9006-9CF6C278F3F2}"/>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exploratory_2x2_summary.csv · m2_family_overlap_matrix.csv · RG1/RG2 diagonal reproduction: bit-identical PASS</a:t>
            </a:r>
          </a:p>
        </p:txBody>
      </p:sp>
      <p:sp>
        <p:nvSpPr>
          <p:cNvPr id="10" name="Text 7">
            <a:extLst xmlns:a="http://schemas.openxmlformats.org/drawingml/2006/main">
              <a:ext uri="{FF2B5EF4-FFF2-40B4-BE49-F238E27FC236}">
                <a16:creationId xmlns:a16="http://schemas.microsoft.com/office/drawing/2014/main" id="{9152AE1A-A288-4E6B-8780-FEB04ECC5243}"/>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11</a:t>
            </a:r>
          </a:p>
        </p:txBody>
      </p:sp>
    </p:spTree>
    <p:extLst>
      <p:ext uri="{BB962C8B-B14F-4D97-AF65-F5344CB8AC3E}">
        <p14:creationId xmlns:p14="http://schemas.microsoft.com/office/powerpoint/2010/main" val="4960568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CFB5E49-6F47-4CB8-9CE8-561C02D03E85}"/>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Two registered repairs avoid the saturated region</a:t>
            </a:r>
          </a:p>
        </p:txBody>
      </p:sp>
      <p:sp>
        <p:nvSpPr>
          <p:cNvPr id="3" name="Text 1">
            <a:extLst xmlns:a="http://schemas.openxmlformats.org/drawingml/2006/main">
              <a:ext uri="{FF2B5EF4-FFF2-40B4-BE49-F238E27FC236}">
                <a16:creationId xmlns:a16="http://schemas.microsoft.com/office/drawing/2014/main" id="{D41BE17C-C940-47DF-AF01-D90B9B79AA31}"/>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Bonferroni co-primaries α=0.025 · exact McNemar on matched seeds · frozen before any run</a:t>
            </a:r>
          </a:p>
        </p:txBody>
      </p:sp>
      <p:sp>
        <p:nvSpPr>
          <p:cNvPr id="4" name="Text 2">
            <a:extLst xmlns:a="http://schemas.openxmlformats.org/drawingml/2006/main">
              <a:ext uri="{FF2B5EF4-FFF2-40B4-BE49-F238E27FC236}">
                <a16:creationId xmlns:a16="http://schemas.microsoft.com/office/drawing/2014/main" id="{59BFDE47-3F01-4716-B74F-D8A3E4258C28}"/>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af6b84fb86a64bff"/>
          <a:stretch xmlns:a="http://schemas.openxmlformats.org/drawingml/2006/main">
            <a:fillRect l="0" t="0" r="0" b="0"/>
          </a:stretch>
        </p:blipFill>
        <p:spPr>
          <a:xfrm xmlns:a="http://schemas.openxmlformats.org/drawingml/2006/main">
            <a:off x="502920" y="1737360"/>
            <a:ext cx="7315200" cy="3483864"/>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5C16150-34EB-4526-8842-3573B52042F4}"/>
              </a:ext>
            </a:extLst>
          </p:cNvPr>
          <p:cNvSpPr>
            <a:spLocks xmlns:a="http://schemas.openxmlformats.org/drawingml/2006/main" noGrp="1"/>
          </p:cNvSpPr>
          <p:nvPr/>
        </p:nvSpPr>
        <p:spPr>
          <a:xfrm xmlns:a="http://schemas.openxmlformats.org/drawingml/2006/main">
            <a:off x="8001000" y="1828800"/>
            <a:ext cx="3703320" cy="4206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000"/>
              </a:spcAft>
              <a:buSzPct val="100000"/>
              <a:buChar char="•"/>
            </a:pPr>
            <a:r>
              <a:rPr sz="1150">
                <a:solidFill>
                  <a:srgbClr val="1C2833"/>
                </a:solidFill>
                <a:latin typeface="Calibri"/>
                <a:ea typeface="Calibri"/>
                <a:cs typeface="Calibri"/>
              </a:rPr>
              <a:t>N=4 horizon repair: 175→0/1000; gradual guardrail 0/100 vs N=3’s 11/100.</a:t>
            </a:r>
          </a:p>
          <a:p xmlns:a="http://schemas.openxmlformats.org/drawingml/2006/main">
            <a:pPr marL="152400" indent="-152400">
              <a:spcAft>
                <a:spcPts val="1000"/>
              </a:spcAft>
              <a:buSzPct val="100000"/>
              <a:buChar char="•"/>
            </a:pPr>
            <a:r>
              <a:rPr sz="1150" b="1">
                <a:solidFill>
                  <a:srgbClr val="1C2833"/>
                </a:solidFill>
                <a:latin typeface="Calibri"/>
                <a:ea typeface="Calibri"/>
                <a:cs typeface="Calibri"/>
              </a:rPr>
              <a:t>Projection-style selection: 175→0/1000, but gradual reverse-bound crossings are 20/100 vs 0/89, so the claim is qualified.</a:t>
            </a:r>
          </a:p>
          <a:p xmlns:a="http://schemas.openxmlformats.org/drawingml/2006/main">
            <a:pPr marL="152400" indent="-152400">
              <a:spcAft>
                <a:spcPts val="1000"/>
              </a:spcAft>
              <a:buSzPct val="100000"/>
              <a:buChar char="•"/>
            </a:pPr>
            <a:r>
              <a:rPr sz="1150">
                <a:solidFill>
                  <a:srgbClr val="1C2833"/>
                </a:solidFill>
                <a:latin typeface="Calibri"/>
                <a:ea typeface="Calibri"/>
                <a:cs typeface="Calibri"/>
              </a:rPr>
              <a:t>Primary reading: the N=4 repair is clean. The projection arm remains endpoint- and horizon-bounded, with its fallback branch disclosed.</a:t>
            </a:r>
          </a:p>
        </p:txBody>
      </p:sp>
      <p:sp>
        <p:nvSpPr>
          <p:cNvPr id="7" name="Text 4">
            <a:extLst xmlns:a="http://schemas.openxmlformats.org/drawingml/2006/main">
              <a:ext uri="{FF2B5EF4-FFF2-40B4-BE49-F238E27FC236}">
                <a16:creationId xmlns:a16="http://schemas.microsoft.com/office/drawing/2014/main" id="{B0C6004F-A8E9-439A-9348-07D3F760DBAF}"/>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horizon_ablation_paired_tests.json · guardrail_summary.csv · ap_fallback_rate.csv</a:t>
            </a:r>
          </a:p>
        </p:txBody>
      </p:sp>
      <p:sp>
        <p:nvSpPr>
          <p:cNvPr id="8" name="Text 5">
            <a:extLst xmlns:a="http://schemas.openxmlformats.org/drawingml/2006/main">
              <a:ext uri="{FF2B5EF4-FFF2-40B4-BE49-F238E27FC236}">
                <a16:creationId xmlns:a16="http://schemas.microsoft.com/office/drawing/2014/main" id="{342F89E8-0601-469F-9047-63B79BF92452}"/>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12</a:t>
            </a:r>
          </a:p>
        </p:txBody>
      </p:sp>
    </p:spTree>
    <p:extLst>
      <p:ext uri="{BB962C8B-B14F-4D97-AF65-F5344CB8AC3E}">
        <p14:creationId xmlns:p14="http://schemas.microsoft.com/office/powerpoint/2010/main" val="30061719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A3289B-9C5C-401D-8F6A-C5CD69450DED}"/>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Failure structure across every configuration</a:t>
            </a:r>
          </a:p>
        </p:txBody>
      </p:sp>
      <p:sp>
        <p:nvSpPr>
          <p:cNvPr id="3" name="Text 1">
            <a:extLst xmlns:a="http://schemas.openxmlformats.org/drawingml/2006/main">
              <a:ext uri="{FF2B5EF4-FFF2-40B4-BE49-F238E27FC236}">
                <a16:creationId xmlns:a16="http://schemas.microsoft.com/office/drawing/2014/main" id="{CA07FE8C-44C3-4931-A9D7-99FAE3465483}"/>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Exact-signature family overlap — the census behind the attribution claims</a:t>
            </a:r>
          </a:p>
        </p:txBody>
      </p:sp>
      <p:sp>
        <p:nvSpPr>
          <p:cNvPr id="4" name="Text 2">
            <a:extLst xmlns:a="http://schemas.openxmlformats.org/drawingml/2006/main">
              <a:ext uri="{FF2B5EF4-FFF2-40B4-BE49-F238E27FC236}">
                <a16:creationId xmlns:a16="http://schemas.microsoft.com/office/drawing/2014/main" id="{84775144-8C46-4E12-9984-5014DC61575B}"/>
              </a:ext>
            </a:extLst>
          </p:cNvPr>
          <p:cNvSpPr>
            <a:spLocks xmlns:a="http://schemas.openxmlformats.org/drawingml/2006/main" noGrp="1"/>
          </p:cNvSpPr>
          <p:nvPr/>
        </p:nvSpPr>
        <p:spPr>
          <a:xfrm xmlns:a="http://schemas.openxmlformats.org/drawingml/2006/main">
            <a:off x="6766560" y="201168"/>
            <a:ext cx="1572768"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B7280"/>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6B7280"/>
                </a:solidFill>
                <a:latin typeface="Calibri"/>
                <a:ea typeface="Calibri"/>
                <a:cs typeface="Calibri"/>
              </a:rPr>
              <a:t>PILOT n=200</a:t>
            </a:r>
          </a:p>
        </p:txBody>
      </p:sp>
      <p:sp>
        <p:nvSpPr>
          <p:cNvPr id="5" name="Text 3">
            <a:extLst xmlns:a="http://schemas.openxmlformats.org/drawingml/2006/main">
              <a:ext uri="{FF2B5EF4-FFF2-40B4-BE49-F238E27FC236}">
                <a16:creationId xmlns:a16="http://schemas.microsoft.com/office/drawing/2014/main" id="{8658CD2C-E0E9-468B-B40D-E80B5211C985}"/>
              </a:ext>
            </a:extLst>
          </p:cNvPr>
          <p:cNvSpPr>
            <a:spLocks xmlns:a="http://schemas.openxmlformats.org/drawingml/2006/main" noGrp="1"/>
          </p:cNvSpPr>
          <p:nvPr/>
        </p:nvSpPr>
        <p:spPr>
          <a:xfrm xmlns:a="http://schemas.openxmlformats.org/drawingml/2006/main">
            <a:off x="8366760" y="201168"/>
            <a:ext cx="1572768" cy="292608"/>
          </a:xfrm>
          <a:prstGeom xmlns:a="http://schemas.openxmlformats.org/drawingml/2006/main" prst="roundRect">
            <a:avLst>
              <a:gd name="adj" fmla="val 50000"/>
            </a:avLst>
          </a:prstGeom>
          <a:solidFill xmlns:a="http://schemas.openxmlformats.org/drawingml/2006/main">
            <a:srgbClr val="2C6E91"/>
          </a:solidFill>
          <a:ln xmlns:a="http://schemas.openxmlformats.org/drawingml/2006/main">
            <a:solidFill>
              <a:srgbClr val="2C6E91"/>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REGISTERED n=1000</a:t>
            </a:r>
          </a:p>
        </p:txBody>
      </p:sp>
      <p:sp>
        <p:nvSpPr>
          <p:cNvPr id="6" name="Text 4">
            <a:extLst xmlns:a="http://schemas.openxmlformats.org/drawingml/2006/main">
              <a:ext uri="{FF2B5EF4-FFF2-40B4-BE49-F238E27FC236}">
                <a16:creationId xmlns:a16="http://schemas.microsoft.com/office/drawing/2014/main" id="{9258E2F5-EC97-4C88-B5E4-204ABA1D2EEC}"/>
              </a:ext>
            </a:extLst>
          </p:cNvPr>
          <p:cNvSpPr>
            <a:spLocks xmlns:a="http://schemas.openxmlformats.org/drawingml/2006/main" noGrp="1"/>
          </p:cNvSpPr>
          <p:nvPr/>
        </p:nvSpPr>
        <p:spPr>
          <a:xfrm xmlns:a="http://schemas.openxmlformats.org/drawingml/2006/main">
            <a:off x="9966960" y="201168"/>
            <a:ext cx="1572768" cy="292608"/>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a:solidFill>
              <a:srgbClr val="D97706"/>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alibri"/>
                <a:ea typeface="Calibri"/>
                <a:cs typeface="Calibri"/>
              </a:rPr>
              <a:t>EXPLORATORY n=200</a:t>
            </a:r>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addd7bc4cfb740c9"/>
          <a:stretch xmlns:a="http://schemas.openxmlformats.org/drawingml/2006/main">
            <a:fillRect l="0" t="0" r="0" b="0"/>
          </a:stretch>
        </p:blipFill>
        <p:spPr>
          <a:xfrm xmlns:a="http://schemas.openxmlformats.org/drawingml/2006/main">
            <a:off x="502920" y="1737360"/>
            <a:ext cx="5760720" cy="4251960"/>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FB56D784-9D5D-44C1-BC52-EFA4442BAE6F}"/>
              </a:ext>
            </a:extLst>
          </p:cNvPr>
          <p:cNvSpPr>
            <a:spLocks xmlns:a="http://schemas.openxmlformats.org/drawingml/2006/main" noGrp="1"/>
          </p:cNvSpPr>
          <p:nvPr/>
        </p:nvSpPr>
        <p:spPr>
          <a:xfrm xmlns:a="http://schemas.openxmlformats.org/drawingml/2006/main">
            <a:off x="6492240" y="1737360"/>
            <a:ext cx="521208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100"/>
              </a:spcAft>
              <a:buSzPct val="100000"/>
              <a:buChar char="•"/>
            </a:pPr>
            <a:r>
              <a:rPr sz="1250" b="1">
                <a:solidFill>
                  <a:srgbClr val="1C2833"/>
                </a:solidFill>
                <a:latin typeface="Calibri"/>
                <a:ea typeface="Calibri"/>
                <a:cs typeface="Calibri"/>
              </a:rPr>
              <a:t>(3,10) ↔ (10,10): 8 shared signatures, ~74% of basin mass on both sides — different trigger depths, literally coincident trajectories.</a:t>
            </a:r>
          </a:p>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(10,3) ↔ shallow E-N3: exactly one shared signature — and it is the largest shallow family (48.6% of shallow mass): forced intervention expresses the shallow scorer's dominant basin.</a:t>
            </a:r>
          </a:p>
          <a:p xmlns:a="http://schemas.openxmlformats.org/drawingml/2006/main">
            <a:pPr marL="152400" indent="-152400">
              <a:spcAft>
                <a:spcPts val="1100"/>
              </a:spcAft>
              <a:buSzPct val="100000"/>
              <a:buChar char="•"/>
            </a:pPr>
            <a:r>
              <a:rPr sz="1250">
                <a:solidFill>
                  <a:srgbClr val="1C2833"/>
                </a:solidFill>
                <a:latin typeface="Calibri"/>
                <a:ea typeface="Calibri"/>
                <a:cs typeface="Calibri"/>
              </a:rPr>
              <a:t>E-N7's 35 families are signature-disjoint from everything — a strictness fact about exact hashing, stated as census, not mechanism.</a:t>
            </a:r>
          </a:p>
        </p:txBody>
      </p:sp>
      <p:sp>
        <p:nvSpPr>
          <p:cNvPr id="9" name="Text 6">
            <a:extLst xmlns:a="http://schemas.openxmlformats.org/drawingml/2006/main">
              <a:ext uri="{FF2B5EF4-FFF2-40B4-BE49-F238E27FC236}">
                <a16:creationId xmlns:a16="http://schemas.microsoft.com/office/drawing/2014/main" id="{AC419848-0FB8-49C6-930A-5EB782764314}"/>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m2_family_overlap_matrix.csv · family recipe identical across all cells</a:t>
            </a:r>
          </a:p>
        </p:txBody>
      </p:sp>
      <p:sp>
        <p:nvSpPr>
          <p:cNvPr id="10" name="Text 7">
            <a:extLst xmlns:a="http://schemas.openxmlformats.org/drawingml/2006/main">
              <a:ext uri="{FF2B5EF4-FFF2-40B4-BE49-F238E27FC236}">
                <a16:creationId xmlns:a16="http://schemas.microsoft.com/office/drawing/2014/main" id="{CAB15E6A-E7EE-4B88-9D89-1BF3DB04AC00}"/>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13</a:t>
            </a:r>
          </a:p>
        </p:txBody>
      </p:sp>
    </p:spTree>
    <p:extLst>
      <p:ext uri="{BB962C8B-B14F-4D97-AF65-F5344CB8AC3E}">
        <p14:creationId xmlns:p14="http://schemas.microsoft.com/office/powerpoint/2010/main" val="3679567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081779-E9C1-425C-86A4-CB32B09862F9}"/>
              </a:ext>
            </a:extLst>
          </p:cNvPr>
          <p:cNvSpPr>
            <a:spLocks xmlns:a="http://schemas.openxmlformats.org/drawingml/2006/main" noGrp="1"/>
          </p:cNvSpPr>
          <p:nvPr/>
        </p:nvSpPr>
        <p:spPr>
          <a:xfrm xmlns:a="http://schemas.openxmlformats.org/drawingml/2006/main">
            <a:off x="502920" y="45720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C2833"/>
                </a:solidFill>
                <a:latin typeface="Cambria"/>
                <a:ea typeface="Cambria"/>
                <a:cs typeface="Cambria"/>
              </a:rPr>
              <a:t>Audit findings changed the interpretation</a:t>
            </a:r>
          </a:p>
        </p:txBody>
      </p:sp>
      <p:sp>
        <p:nvSpPr>
          <p:cNvPr id="3" name="Text 1">
            <a:extLst xmlns:a="http://schemas.openxmlformats.org/drawingml/2006/main">
              <a:ext uri="{FF2B5EF4-FFF2-40B4-BE49-F238E27FC236}">
                <a16:creationId xmlns:a16="http://schemas.microsoft.com/office/drawing/2014/main" id="{AFF2D3D4-E641-4F35-B435-47AFF955EF60}"/>
              </a:ext>
            </a:extLst>
          </p:cNvPr>
          <p:cNvSpPr>
            <a:spLocks xmlns:a="http://schemas.openxmlformats.org/drawingml/2006/main" noGrp="1"/>
          </p:cNvSpPr>
          <p:nvPr/>
        </p:nvSpPr>
        <p:spPr>
          <a:xfrm xmlns:a="http://schemas.openxmlformats.org/drawingml/2006/main">
            <a:off x="502920" y="11155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6B7280"/>
                </a:solidFill>
                <a:latin typeface="Calibri"/>
                <a:ea typeface="Calibri"/>
                <a:cs typeface="Calibri"/>
              </a:rPr>
              <a:t>Four catches prevented four overclaims</a:t>
            </a:r>
          </a:p>
        </p:txBody>
      </p:sp>
      <p:sp>
        <p:nvSpPr>
          <p:cNvPr id="4" name="Shape 2">
            <a:extLst xmlns:a="http://schemas.openxmlformats.org/drawingml/2006/main">
              <a:ext uri="{FF2B5EF4-FFF2-40B4-BE49-F238E27FC236}">
                <a16:creationId xmlns:a16="http://schemas.microsoft.com/office/drawing/2014/main" id="{42C67F49-8F65-4F89-A4F6-087003367DDF}"/>
              </a:ext>
            </a:extLst>
          </p:cNvPr>
          <p:cNvSpPr>
            <a:spLocks xmlns:a="http://schemas.openxmlformats.org/drawingml/2006/main" noGrp="1"/>
          </p:cNvSpPr>
          <p:nvPr/>
        </p:nvSpPr>
        <p:spPr>
          <a:xfrm xmlns:a="http://schemas.openxmlformats.org/drawingml/2006/main">
            <a:off x="502920" y="178308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a:effectLst xmlns:a="http://schemas.openxmlformats.org/drawingml/2006/main">
            <a:outerShdw blurRad="76200" dist="25400" dir="5400000" sx="100000" sy="100000" kx="0" ky="0" algn="bl" rotWithShape="0">
              <a:srgbClr val="9AA4AE">
                <a:alpha val="35000"/>
              </a:srgbClr>
            </a:outerShdw>
          </a:effectLst>
        </p:spPr>
      </p:sp>
      <p:sp>
        <p:nvSpPr>
          <p:cNvPr id="5" name="Text 3">
            <a:extLst xmlns:a="http://schemas.openxmlformats.org/drawingml/2006/main">
              <a:ext uri="{FF2B5EF4-FFF2-40B4-BE49-F238E27FC236}">
                <a16:creationId xmlns:a16="http://schemas.microsoft.com/office/drawing/2014/main" id="{F567B233-B791-4A30-AA73-132DA90E1405}"/>
              </a:ext>
            </a:extLst>
          </p:cNvPr>
          <p:cNvSpPr>
            <a:spLocks xmlns:a="http://schemas.openxmlformats.org/drawingml/2006/main" noGrp="1"/>
          </p:cNvSpPr>
          <p:nvPr/>
        </p:nvSpPr>
        <p:spPr>
          <a:xfrm xmlns:a="http://schemas.openxmlformats.org/drawingml/2006/main">
            <a:off x="777240" y="1984248"/>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C6E91"/>
                </a:solidFill>
                <a:latin typeface="Calibri"/>
                <a:ea typeface="Calibri"/>
                <a:cs typeface="Calibri"/>
              </a:rPr>
              <a:t>Provenance audit</a:t>
            </a:r>
          </a:p>
        </p:txBody>
      </p:sp>
      <p:sp>
        <p:nvSpPr>
          <p:cNvPr id="6" name="Text 4">
            <a:extLst xmlns:a="http://schemas.openxmlformats.org/drawingml/2006/main">
              <a:ext uri="{FF2B5EF4-FFF2-40B4-BE49-F238E27FC236}">
                <a16:creationId xmlns:a16="http://schemas.microsoft.com/office/drawing/2014/main" id="{97FCD9FB-54DB-4668-9479-3F4A1D429064}"/>
              </a:ext>
            </a:extLst>
          </p:cNvPr>
          <p:cNvSpPr>
            <a:spLocks xmlns:a="http://schemas.openxmlformats.org/drawingml/2006/main" noGrp="1"/>
          </p:cNvSpPr>
          <p:nvPr/>
        </p:nvSpPr>
        <p:spPr>
          <a:xfrm xmlns:a="http://schemas.openxmlformats.org/drawingml/2006/main">
            <a:off x="777240" y="2404872"/>
            <a:ext cx="48920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AP's undocumented infeasibility fallback — found before confirmation, disclosed, registered as-implemented.</a:t>
            </a:r>
          </a:p>
        </p:txBody>
      </p:sp>
      <p:sp>
        <p:nvSpPr>
          <p:cNvPr id="7" name="Shape 5">
            <a:extLst xmlns:a="http://schemas.openxmlformats.org/drawingml/2006/main">
              <a:ext uri="{FF2B5EF4-FFF2-40B4-BE49-F238E27FC236}">
                <a16:creationId xmlns:a16="http://schemas.microsoft.com/office/drawing/2014/main" id="{5A40C4B8-C050-42D4-867E-788806127B5A}"/>
              </a:ext>
            </a:extLst>
          </p:cNvPr>
          <p:cNvSpPr>
            <a:spLocks xmlns:a="http://schemas.openxmlformats.org/drawingml/2006/main" noGrp="1"/>
          </p:cNvSpPr>
          <p:nvPr/>
        </p:nvSpPr>
        <p:spPr>
          <a:xfrm xmlns:a="http://schemas.openxmlformats.org/drawingml/2006/main">
            <a:off x="6217920" y="178308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a:effectLst xmlns:a="http://schemas.openxmlformats.org/drawingml/2006/main">
            <a:outerShdw blurRad="76200" dist="25400" dir="5400000" sx="100000" sy="100000" kx="0" ky="0" algn="bl" rotWithShape="0">
              <a:srgbClr val="9AA4AE">
                <a:alpha val="35000"/>
              </a:srgbClr>
            </a:outerShdw>
          </a:effectLst>
        </p:spPr>
      </p:sp>
      <p:sp>
        <p:nvSpPr>
          <p:cNvPr id="8" name="Text 6">
            <a:extLst xmlns:a="http://schemas.openxmlformats.org/drawingml/2006/main">
              <a:ext uri="{FF2B5EF4-FFF2-40B4-BE49-F238E27FC236}">
                <a16:creationId xmlns:a16="http://schemas.microsoft.com/office/drawing/2014/main" id="{EDD4BDE4-68EC-48B5-A4D1-D2FBAD751BB9}"/>
              </a:ext>
            </a:extLst>
          </p:cNvPr>
          <p:cNvSpPr>
            <a:spLocks xmlns:a="http://schemas.openxmlformats.org/drawingml/2006/main" noGrp="1"/>
          </p:cNvSpPr>
          <p:nvPr/>
        </p:nvSpPr>
        <p:spPr>
          <a:xfrm xmlns:a="http://schemas.openxmlformats.org/drawingml/2006/main">
            <a:off x="6492240" y="1984248"/>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C6E91"/>
                </a:solidFill>
                <a:latin typeface="Calibri"/>
                <a:ea typeface="Calibri"/>
                <a:cs typeface="Calibri"/>
              </a:rPr>
              <a:t>Semantics reconciliation</a:t>
            </a:r>
          </a:p>
        </p:txBody>
      </p:sp>
      <p:sp>
        <p:nvSpPr>
          <p:cNvPr id="9" name="Text 7">
            <a:extLst xmlns:a="http://schemas.openxmlformats.org/drawingml/2006/main">
              <a:ext uri="{FF2B5EF4-FFF2-40B4-BE49-F238E27FC236}">
                <a16:creationId xmlns:a16="http://schemas.microsoft.com/office/drawing/2014/main" id="{16E13384-F1B2-46BA-B509-D4B75E8A8568}"/>
              </a:ext>
            </a:extLst>
          </p:cNvPr>
          <p:cNvSpPr>
            <a:spLocks xmlns:a="http://schemas.openxmlformats.org/drawingml/2006/main" noGrp="1"/>
          </p:cNvSpPr>
          <p:nvPr/>
        </p:nvSpPr>
        <p:spPr>
          <a:xfrm xmlns:a="http://schemas.openxmlformats.org/drawingml/2006/main">
            <a:off x="6492240" y="2404872"/>
            <a:ext cx="48920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Two thrust-conversion pipelines under one label (gradual E: 302 vs 96) — all fault-profile counts and even the D/E ordering are conversion-dependent; every cell now carries its pipeline label.</a:t>
            </a:r>
          </a:p>
        </p:txBody>
      </p:sp>
      <p:sp>
        <p:nvSpPr>
          <p:cNvPr id="10" name="Shape 8">
            <a:extLst xmlns:a="http://schemas.openxmlformats.org/drawingml/2006/main">
              <a:ext uri="{FF2B5EF4-FFF2-40B4-BE49-F238E27FC236}">
                <a16:creationId xmlns:a16="http://schemas.microsoft.com/office/drawing/2014/main" id="{D3A6CE87-768F-4C34-8400-F9D945C27B6F}"/>
              </a:ext>
            </a:extLst>
          </p:cNvPr>
          <p:cNvSpPr>
            <a:spLocks xmlns:a="http://schemas.openxmlformats.org/drawingml/2006/main" noGrp="1"/>
          </p:cNvSpPr>
          <p:nvPr/>
        </p:nvSpPr>
        <p:spPr>
          <a:xfrm xmlns:a="http://schemas.openxmlformats.org/drawingml/2006/main">
            <a:off x="502920" y="397764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a:effectLst xmlns:a="http://schemas.openxmlformats.org/drawingml/2006/main">
            <a:outerShdw blurRad="76200" dist="25400" dir="5400000" sx="100000" sy="100000" kx="0" ky="0" algn="bl" rotWithShape="0">
              <a:srgbClr val="9AA4AE">
                <a:alpha val="35000"/>
              </a:srgbClr>
            </a:outerShdw>
          </a:effectLst>
        </p:spPr>
      </p:sp>
      <p:sp>
        <p:nvSpPr>
          <p:cNvPr id="11" name="Text 9">
            <a:extLst xmlns:a="http://schemas.openxmlformats.org/drawingml/2006/main">
              <a:ext uri="{FF2B5EF4-FFF2-40B4-BE49-F238E27FC236}">
                <a16:creationId xmlns:a16="http://schemas.microsoft.com/office/drawing/2014/main" id="{E87237A8-7C8B-4586-B575-8ACA0114EDDC}"/>
              </a:ext>
            </a:extLst>
          </p:cNvPr>
          <p:cNvSpPr>
            <a:spLocks xmlns:a="http://schemas.openxmlformats.org/drawingml/2006/main" noGrp="1"/>
          </p:cNvSpPr>
          <p:nvPr/>
        </p:nvSpPr>
        <p:spPr>
          <a:xfrm xmlns:a="http://schemas.openxmlformats.org/drawingml/2006/main">
            <a:off x="777240" y="4178808"/>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C6E91"/>
                </a:solidFill>
                <a:latin typeface="Calibri"/>
                <a:ea typeface="Calibri"/>
                <a:cs typeface="Calibri"/>
              </a:rPr>
              <a:t>Seed-echo gates</a:t>
            </a:r>
          </a:p>
        </p:txBody>
      </p:sp>
      <p:sp>
        <p:nvSpPr>
          <p:cNvPr id="12" name="Text 10">
            <a:extLst xmlns:a="http://schemas.openxmlformats.org/drawingml/2006/main">
              <a:ext uri="{FF2B5EF4-FFF2-40B4-BE49-F238E27FC236}">
                <a16:creationId xmlns:a16="http://schemas.microsoft.com/office/drawing/2014/main" id="{E3974F1D-5967-4573-8556-C4AA17FE416A}"/>
              </a:ext>
            </a:extLst>
          </p:cNvPr>
          <p:cNvSpPr>
            <a:spLocks xmlns:a="http://schemas.openxmlformats.org/drawingml/2006/main" noGrp="1"/>
          </p:cNvSpPr>
          <p:nvPr/>
        </p:nvSpPr>
        <p:spPr>
          <a:xfrm xmlns:a="http://schemas.openxmlformats.org/drawingml/2006/main">
            <a:off x="777240" y="4599432"/>
            <a:ext cx="48920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A silent seed remap (30000-range → 1337–1536) — caught, reconciled, made structurally impossible to repeat.</a:t>
            </a:r>
          </a:p>
        </p:txBody>
      </p:sp>
      <p:sp>
        <p:nvSpPr>
          <p:cNvPr id="13" name="Shape 11">
            <a:extLst xmlns:a="http://schemas.openxmlformats.org/drawingml/2006/main">
              <a:ext uri="{FF2B5EF4-FFF2-40B4-BE49-F238E27FC236}">
                <a16:creationId xmlns:a16="http://schemas.microsoft.com/office/drawing/2014/main" id="{FF730A90-C1CE-4944-AF35-1E76560E5AD0}"/>
              </a:ext>
            </a:extLst>
          </p:cNvPr>
          <p:cNvSpPr>
            <a:spLocks xmlns:a="http://schemas.openxmlformats.org/drawingml/2006/main" noGrp="1"/>
          </p:cNvSpPr>
          <p:nvPr/>
        </p:nvSpPr>
        <p:spPr>
          <a:xfrm xmlns:a="http://schemas.openxmlformats.org/drawingml/2006/main">
            <a:off x="6217920" y="3977640"/>
            <a:ext cx="5440680" cy="1920240"/>
          </a:xfrm>
          <a:prstGeom xmlns:a="http://schemas.openxmlformats.org/drawingml/2006/main" prst="roundRect">
            <a:avLst>
              <a:gd name="adj" fmla="val 3810"/>
            </a:avLst>
          </a:prstGeom>
          <a:solidFill xmlns:a="http://schemas.openxmlformats.org/drawingml/2006/main">
            <a:srgbClr val="F4F6F8"/>
          </a:solidFill>
          <a:ln xmlns:a="http://schemas.openxmlformats.org/drawingml/2006/main" w="9525">
            <a:solidFill>
              <a:srgbClr val="E5E7EB"/>
            </a:solidFill>
            <a:prstDash val="solid"/>
          </a:ln>
          <a:effectLst xmlns:a="http://schemas.openxmlformats.org/drawingml/2006/main">
            <a:outerShdw blurRad="76200" dist="25400" dir="5400000" sx="100000" sy="100000" kx="0" ky="0" algn="bl" rotWithShape="0">
              <a:srgbClr val="9AA4AE">
                <a:alpha val="35000"/>
              </a:srgbClr>
            </a:outerShdw>
          </a:effectLst>
        </p:spPr>
      </p:sp>
      <p:sp>
        <p:nvSpPr>
          <p:cNvPr id="14" name="Text 12">
            <a:extLst xmlns:a="http://schemas.openxmlformats.org/drawingml/2006/main">
              <a:ext uri="{FF2B5EF4-FFF2-40B4-BE49-F238E27FC236}">
                <a16:creationId xmlns:a16="http://schemas.microsoft.com/office/drawing/2014/main" id="{CA061BB2-49A9-4B1D-B151-6ABEAE32F2F1}"/>
              </a:ext>
            </a:extLst>
          </p:cNvPr>
          <p:cNvSpPr>
            <a:spLocks xmlns:a="http://schemas.openxmlformats.org/drawingml/2006/main" noGrp="1"/>
          </p:cNvSpPr>
          <p:nvPr/>
        </p:nvSpPr>
        <p:spPr>
          <a:xfrm xmlns:a="http://schemas.openxmlformats.org/drawingml/2006/main">
            <a:off x="6492240" y="4178808"/>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2C6E91"/>
                </a:solidFill>
                <a:latin typeface="Calibri"/>
                <a:ea typeface="Calibri"/>
                <a:cs typeface="Calibri"/>
              </a:rPr>
              <a:t>Pre-pilot freeze</a:t>
            </a:r>
          </a:p>
        </p:txBody>
      </p:sp>
      <p:sp>
        <p:nvSpPr>
          <p:cNvPr id="15" name="Text 13">
            <a:extLst xmlns:a="http://schemas.openxmlformats.org/drawingml/2006/main">
              <a:ext uri="{FF2B5EF4-FFF2-40B4-BE49-F238E27FC236}">
                <a16:creationId xmlns:a16="http://schemas.microsoft.com/office/drawing/2014/main" id="{56A92C25-F8E5-4312-B26E-2FB2ACF1E9B2}"/>
              </a:ext>
            </a:extLst>
          </p:cNvPr>
          <p:cNvSpPr>
            <a:spLocks xmlns:a="http://schemas.openxmlformats.org/drawingml/2006/main" noGrp="1"/>
          </p:cNvSpPr>
          <p:nvPr/>
        </p:nvSpPr>
        <p:spPr>
          <a:xfrm xmlns:a="http://schemas.openxmlformats.org/drawingml/2006/main">
            <a:off x="6492240" y="4599432"/>
            <a:ext cx="48920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1C2833"/>
                </a:solidFill>
                <a:latin typeface="Calibri"/>
                <a:ea typeface="Calibri"/>
                <a:cs typeface="Calibri"/>
              </a:rPr>
              <a:t>Advancement rule + all interpretations hashed before pilot data existed — the non-monotonic surprise could not be spun.</a:t>
            </a:r>
          </a:p>
        </p:txBody>
      </p:sp>
      <p:sp>
        <p:nvSpPr>
          <p:cNvPr id="16" name="Text 14">
            <a:extLst xmlns:a="http://schemas.openxmlformats.org/drawingml/2006/main">
              <a:ext uri="{FF2B5EF4-FFF2-40B4-BE49-F238E27FC236}">
                <a16:creationId xmlns:a16="http://schemas.microsoft.com/office/drawing/2014/main" id="{CED50885-1674-40ED-9610-C528E2952AF6}"/>
              </a:ext>
            </a:extLst>
          </p:cNvPr>
          <p:cNvSpPr>
            <a:spLocks xmlns:a="http://schemas.openxmlformats.org/drawingml/2006/main" noGrp="1"/>
          </p:cNvSpPr>
          <p:nvPr/>
        </p:nvSpPr>
        <p:spPr>
          <a:xfrm xmlns:a="http://schemas.openxmlformats.org/drawingml/2006/main">
            <a:off x="502920" y="6473952"/>
            <a:ext cx="10424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All artifacts hash-manifested; every number in this deck carries a raw-file path in its source figure</a:t>
            </a:r>
          </a:p>
        </p:txBody>
      </p:sp>
      <p:sp>
        <p:nvSpPr>
          <p:cNvPr id="17" name="Text 15">
            <a:extLst xmlns:a="http://schemas.openxmlformats.org/drawingml/2006/main">
              <a:ext uri="{FF2B5EF4-FFF2-40B4-BE49-F238E27FC236}">
                <a16:creationId xmlns:a16="http://schemas.microsoft.com/office/drawing/2014/main" id="{41DDE5E8-2262-435C-8A80-6C3A142A8EF0}"/>
              </a:ext>
            </a:extLst>
          </p:cNvPr>
          <p:cNvSpPr>
            <a:spLocks xmlns:a="http://schemas.openxmlformats.org/drawingml/2006/main" noGrp="1"/>
          </p:cNvSpPr>
          <p:nvPr/>
        </p:nvSpPr>
        <p:spPr>
          <a:xfrm xmlns:a="http://schemas.openxmlformats.org/drawingml/2006/main">
            <a:off x="11475720" y="6473952"/>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6B7280"/>
                </a:solidFill>
                <a:latin typeface="Calibri"/>
                <a:ea typeface="Calibri"/>
                <a:cs typeface="Calibri"/>
              </a:rPr>
              <a:t>14</a:t>
            </a:r>
          </a:p>
        </p:txBody>
      </p:sp>
    </p:spTree>
    <p:extLst>
      <p:ext uri="{BB962C8B-B14F-4D97-AF65-F5344CB8AC3E}">
        <p14:creationId xmlns:p14="http://schemas.microsoft.com/office/powerpoint/2010/main" val="1574212786"/>
      </p:ext>
    </p:extLst>
  </p:cSld>
</p:sld>
</file>

<file path=ppt/slides/slide15.xml><?xml version="1.0" encoding="utf-8"?>
<p:sld xmlns:p="http://schemas.openxmlformats.org/presentationml/2006/main">
  <p:cSld>
    <p:bg>
      <p:bgPr>
        <a:solidFill xmlns:a="http://schemas.openxmlformats.org/drawingml/2006/main">
          <a:srgbClr val="1C283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009A51-FA0C-4A7D-BB3A-4526781AD906}"/>
              </a:ext>
            </a:extLst>
          </p:cNvPr>
          <p:cNvSpPr>
            <a:spLocks xmlns:a="http://schemas.openxmlformats.org/drawingml/2006/main" noGrp="1"/>
          </p:cNvSpPr>
          <p:nvPr/>
        </p:nvSpPr>
        <p:spPr>
          <a:xfrm xmlns:a="http://schemas.openxmlformats.org/drawingml/2006/main">
            <a:off x="731520" y="594360"/>
            <a:ext cx="10698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mbria"/>
                <a:ea typeface="Cambria"/>
                <a:cs typeface="Cambria"/>
              </a:rPr>
              <a:t>What this study establishes</a:t>
            </a:r>
          </a:p>
        </p:txBody>
      </p:sp>
      <p:sp>
        <p:nvSpPr>
          <p:cNvPr id="3" name="Text 1">
            <a:extLst xmlns:a="http://schemas.openxmlformats.org/drawingml/2006/main">
              <a:ext uri="{FF2B5EF4-FFF2-40B4-BE49-F238E27FC236}">
                <a16:creationId xmlns:a16="http://schemas.microsoft.com/office/drawing/2014/main" id="{8D2874D7-2F2F-41E8-B051-8F2C06984E06}"/>
              </a:ext>
            </a:extLst>
          </p:cNvPr>
          <p:cNvSpPr>
            <a:spLocks xmlns:a="http://schemas.openxmlformats.org/drawingml/2006/main" noGrp="1"/>
          </p:cNvSpPr>
          <p:nvPr/>
        </p:nvSpPr>
        <p:spPr>
          <a:xfrm xmlns:a="http://schemas.openxmlformats.org/drawingml/2006/main">
            <a:off x="731520" y="1463040"/>
            <a:ext cx="10698480" cy="3383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1300"/>
              </a:spcAft>
              <a:buSzPct val="100000"/>
              <a:buChar char="•"/>
            </a:pPr>
            <a:r>
              <a:rPr sz="1550">
                <a:solidFill>
                  <a:srgbClr val="FFFFFF"/>
                </a:solidFill>
                <a:latin typeface="Calibri"/>
                <a:ea typeface="Calibri"/>
                <a:cs typeface="Calibri"/>
              </a:rPr>
              <a:t>The finite heuristic monitor has a saturation region: when every candidate predicts violation, it repeatedly chooses the least-bad option. </a:t>
            </a:r>
            <a:r>
              <a:rPr sz="1550">
                <a:solidFill>
                  <a:srgbClr val="FFFFFF"/>
                </a:solidFill>
                <a:latin typeface="Calibri"/>
                <a:ea typeface="Calibri"/>
                <a:cs typeface="Calibri"/>
              </a:rPr>
              <a:t>The region is a boundary shell at N=3-4, expands across N=5-9, and is nearly the whole envelope at N=10.</a:t>
            </a:r>
          </a:p>
          <a:p xmlns:a="http://schemas.openxmlformats.org/drawingml/2006/main">
            <a:pPr marL="152400" indent="-152400">
              <a:spcAft>
                <a:spcPts val="1300"/>
              </a:spcAft>
              <a:buSzPct val="100000"/>
              <a:buChar char="•"/>
            </a:pPr>
            <a:r>
              <a:rPr sz="1550">
                <a:solidFill>
                  <a:srgbClr val="FFFFFF"/>
                </a:solidFill>
                <a:latin typeface="Calibri"/>
                <a:ea typeface="Calibri"/>
                <a:cs typeface="Calibri"/>
              </a:rPr>
              <a:t>Two registered repairs avoid the region: the N=4 horizon repair and projection-style selection both reach 0/1000, but neither proves that the scorer itself is fixed.</a:t>
            </a:r>
          </a:p>
          <a:p xmlns:a="http://schemas.openxmlformats.org/drawingml/2006/main">
            <a:pPr marL="152400" indent="-152400">
              <a:spcAft>
                <a:spcPts val="1300"/>
              </a:spcAft>
              <a:buSzPct val="100000"/>
              <a:buChar char="•"/>
            </a:pPr>
            <a:r>
              <a:rPr sz="1550">
                <a:solidFill>
                  <a:srgbClr val="FFFFFF"/>
                </a:solidFill>
                <a:latin typeface="Calibri"/>
                <a:ea typeface="Calibri"/>
                <a:cs typeface="Calibri"/>
              </a:rPr>
              <a:t>The local lesson is narrower and useful: monitor sophistication is not safety by itself. These results are an implementation-specific counterexample, not a general limitation of delay-aware assurance.</a:t>
            </a:r>
          </a:p>
        </p:txBody>
      </p:sp>
      <p:sp>
        <p:nvSpPr>
          <p:cNvPr id="4" name="Text 2">
            <a:extLst xmlns:a="http://schemas.openxmlformats.org/drawingml/2006/main">
              <a:ext uri="{FF2B5EF4-FFF2-40B4-BE49-F238E27FC236}">
                <a16:creationId xmlns:a16="http://schemas.microsoft.com/office/drawing/2014/main" id="{273E9A7D-DC54-4F1D-AC05-065C7A70E0A7}"/>
              </a:ext>
            </a:extLst>
          </p:cNvPr>
          <p:cNvSpPr>
            <a:spLocks xmlns:a="http://schemas.openxmlformats.org/drawingml/2006/main" noGrp="1"/>
          </p:cNvSpPr>
          <p:nvPr/>
        </p:nvSpPr>
        <p:spPr>
          <a:xfrm xmlns:a="http://schemas.openxmlformats.org/drawingml/2006/main">
            <a:off x="731520" y="4983480"/>
            <a:ext cx="106984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CADCFC"/>
                </a:solidFill>
                <a:latin typeface="Calibri"/>
                <a:ea typeface="Calibri"/>
                <a:cs typeface="Calibri"/>
              </a:rPr>
              <a:t>Scope: one PPO checkpoint, one 2D plant, fixed initialization; off-diagonal cells are exploratory.</a:t>
            </a:r>
          </a:p>
          <a:p xmlns:a="http://schemas.openxmlformats.org/drawingml/2006/main">
            <a:pPr marL="0" indent="0">
              <a:buNone/>
            </a:pPr>
            <a:r>
              <a:rPr sz="1200" b="1">
                <a:solidFill>
                  <a:srgbClr val="CADCFC"/>
                </a:solidFill>
                <a:latin typeface="Calibri"/>
                <a:ea typeface="Calibri"/>
                <a:cs typeface="Calibri"/>
              </a:rPr>
              <a:t>Next: formal safety filtering, a second checkpoint, and randomized initial states.</a:t>
            </a:r>
          </a:p>
        </p:txBody>
      </p:sp>
      <p:sp>
        <p:nvSpPr>
          <p:cNvPr id="5" name="Text 3">
            <a:extLst xmlns:a="http://schemas.openxmlformats.org/drawingml/2006/main">
              <a:ext uri="{FF2B5EF4-FFF2-40B4-BE49-F238E27FC236}">
                <a16:creationId xmlns:a16="http://schemas.microsoft.com/office/drawing/2014/main" id="{F8EC77CF-68DE-4E4E-BDD4-B2390A5C3BA9}"/>
              </a:ext>
            </a:extLst>
          </p:cNvPr>
          <p:cNvSpPr>
            <a:spLocks xmlns:a="http://schemas.openxmlformats.org/drawingml/2006/main" noGrp="1"/>
          </p:cNvSpPr>
          <p:nvPr/>
        </p:nvSpPr>
        <p:spPr>
          <a:xfrm xmlns:a="http://schemas.openxmlformats.org/drawingml/2006/main">
            <a:off x="731520" y="6172200"/>
            <a:ext cx="10698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B7280"/>
                </a:solidFill>
                <a:latin typeface="Calibri"/>
                <a:ea typeface="Calibri"/>
                <a:cs typeface="Calibri"/>
              </a:rPr>
              <a:t>Artifacts: hash-manifested bundles for every block · prereg SHAs on file · figures reproducible from committed CSVs</a:t>
            </a:r>
          </a:p>
        </p:txBody>
      </p:sp>
    </p:spTree>
    <p:extLst>
      <p:ext uri="{BB962C8B-B14F-4D97-AF65-F5344CB8AC3E}">
        <p14:creationId xmlns:p14="http://schemas.microsoft.com/office/powerpoint/2010/main" val="145783839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2026-08-07T23:40:31.3310000Z</dcterms:created>
  <dcterms:modified xsi:type="dcterms:W3CDTF">2026-08-07T23:40:31.3310000Z</dcterms:modified>
</coreProperties>
</file>